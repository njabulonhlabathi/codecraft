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154166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228425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68077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051492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1F80A52-D8A9-411B-A5B5-4C712294273C}"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74078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4063383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833237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902717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731145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1F80A52-D8A9-411B-A5B5-4C712294273C}"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172613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757532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0087042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2135683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120511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189323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1925426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1F80A52-D8A9-411B-A5B5-4C712294273C}"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EE4E2-6F2F-41F0-A80C-0336EAC532ED}" type="slidenum">
              <a:rPr lang="en-US" smtClean="0"/>
              <a:t>‹#›</a:t>
            </a:fld>
            <a:endParaRPr lang="en-US"/>
          </a:p>
        </p:txBody>
      </p:sp>
    </p:spTree>
    <p:extLst>
      <p:ext uri="{BB962C8B-B14F-4D97-AF65-F5344CB8AC3E}">
        <p14:creationId xmlns:p14="http://schemas.microsoft.com/office/powerpoint/2010/main" val="39306104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1F80A52-D8A9-411B-A5B5-4C712294273C}" type="datetimeFigureOut">
              <a:rPr lang="en-US" smtClean="0"/>
              <a:t>9/17/2026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BCEEE4E2-6F2F-41F0-A80C-0336EAC532ED}" type="slidenum">
              <a:rPr lang="en-US" smtClean="0"/>
              <a:t>‹#›</a:t>
            </a:fld>
            <a:endParaRPr lang="en-US"/>
          </a:p>
        </p:txBody>
      </p:sp>
    </p:spTree>
    <p:extLst>
      <p:ext uri="{BB962C8B-B14F-4D97-AF65-F5344CB8AC3E}">
        <p14:creationId xmlns:p14="http://schemas.microsoft.com/office/powerpoint/2010/main" val="3642464178"/>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184028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131" y="131885"/>
            <a:ext cx="12045461" cy="6611815"/>
          </a:xfrm>
        </p:spPr>
        <p:txBody>
          <a:bodyPr/>
          <a:lstStyle/>
          <a:p>
            <a:r>
              <a:rPr lang="en-US" sz="4000" u="sng" dirty="0" smtClean="0">
                <a:solidFill>
                  <a:schemeClr val="tx1"/>
                </a:solidFill>
                <a:latin typeface="Arial Black" panose="020B0A04020102020204" pitchFamily="34" charset="0"/>
              </a:rPr>
              <a:t>Introduction</a:t>
            </a:r>
            <a:r>
              <a:rPr lang="en-US" sz="4000" u="sng" dirty="0" smtClean="0">
                <a:solidFill>
                  <a:schemeClr val="tx1"/>
                </a:solidFill>
              </a:rPr>
              <a:t/>
            </a:r>
            <a:br>
              <a:rPr lang="en-US" sz="4000" u="sng" dirty="0" smtClean="0">
                <a:solidFill>
                  <a:schemeClr val="tx1"/>
                </a:solidFill>
              </a:rPr>
            </a:br>
            <a:r>
              <a:rPr lang="en-US" sz="4000" u="sng" dirty="0" smtClean="0">
                <a:solidFill>
                  <a:schemeClr val="tx1"/>
                </a:solidFill>
              </a:rPr>
              <a:t/>
            </a:r>
            <a:br>
              <a:rPr lang="en-US" sz="4000" u="sng" dirty="0" smtClean="0">
                <a:solidFill>
                  <a:schemeClr val="tx1"/>
                </a:solidFill>
              </a:rPr>
            </a:br>
            <a:r>
              <a:rPr lang="en-US" sz="2800" dirty="0">
                <a:solidFill>
                  <a:schemeClr val="tx1"/>
                </a:solidFill>
              </a:rPr>
              <a:t/>
            </a:r>
            <a:br>
              <a:rPr lang="en-US" sz="2800" dirty="0">
                <a:solidFill>
                  <a:schemeClr val="tx1"/>
                </a:solidFill>
              </a:rPr>
            </a:br>
            <a:r>
              <a:rPr lang="en-US" sz="2400" dirty="0">
                <a:solidFill>
                  <a:schemeClr val="tx1"/>
                </a:solidFill>
                <a:latin typeface="Arial" panose="020B0604020202020204" pitchFamily="34" charset="0"/>
                <a:cs typeface="Arial" panose="020B0604020202020204" pitchFamily="34" charset="0"/>
              </a:rPr>
              <a:t>Mpumalanga is one of South Africa’s major coal-mining regions. Mining activities can produce contaminated and acidic runoff that can enter rivers and groundwater.</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This pollution can affect water used by communities, farmers, livestock and ecosystems.</a:t>
            </a:r>
            <a:br>
              <a:rPr lang="en-US" sz="2400" dirty="0">
                <a:solidFill>
                  <a:schemeClr val="tx1"/>
                </a:solidFill>
                <a:latin typeface="Arial" panose="020B0604020202020204" pitchFamily="34" charset="0"/>
                <a:cs typeface="Arial" panose="020B0604020202020204" pitchFamily="34" charset="0"/>
              </a:rPr>
            </a:br>
            <a:r>
              <a:rPr lang="en-US" sz="2400" dirty="0">
                <a:solidFill>
                  <a:schemeClr val="tx1"/>
                </a:solidFill>
                <a:latin typeface="Arial" panose="020B0604020202020204" pitchFamily="34" charset="0"/>
                <a:cs typeface="Arial" panose="020B0604020202020204" pitchFamily="34" charset="0"/>
              </a:rPr>
              <a:t>Our project focuses on detecting changes in water quality early and enabling a rapid automated response before contamination can cause greater harm.</a:t>
            </a:r>
          </a:p>
        </p:txBody>
      </p:sp>
    </p:spTree>
    <p:extLst>
      <p:ext uri="{BB962C8B-B14F-4D97-AF65-F5344CB8AC3E}">
        <p14:creationId xmlns:p14="http://schemas.microsoft.com/office/powerpoint/2010/main" val="623924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 y="96717"/>
            <a:ext cx="11843239" cy="6594230"/>
          </a:xfrm>
        </p:spPr>
        <p:txBody>
          <a:bodyPr/>
          <a:lstStyle/>
          <a:p>
            <a:r>
              <a:rPr lang="en-US" sz="3200" u="sng" dirty="0">
                <a:latin typeface="Arial Black" panose="020B0A04020102020204" pitchFamily="34" charset="0"/>
                <a:cs typeface="Arial" panose="020B0604020202020204" pitchFamily="34" charset="0"/>
              </a:rPr>
              <a:t>Problem </a:t>
            </a:r>
            <a:r>
              <a:rPr lang="en-US" sz="3200" u="sng" dirty="0" smtClean="0">
                <a:latin typeface="Arial Black" panose="020B0A04020102020204" pitchFamily="34" charset="0"/>
                <a:cs typeface="Arial" panose="020B0604020202020204" pitchFamily="34" charset="0"/>
              </a:rPr>
              <a:t>Statement</a:t>
            </a:r>
            <a:r>
              <a:rPr lang="en-US" sz="2400" u="sng" dirty="0" smtClean="0">
                <a:latin typeface="Arial Black" panose="020B0A04020102020204" pitchFamily="34" charset="0"/>
                <a:cs typeface="Arial" panose="020B0604020202020204" pitchFamily="34" charset="0"/>
              </a:rPr>
              <a:t/>
            </a:r>
            <a:br>
              <a:rPr lang="en-US" sz="2400" u="sng" dirty="0" smtClean="0">
                <a:latin typeface="Arial Black" panose="020B0A04020102020204" pitchFamily="34" charset="0"/>
                <a:cs typeface="Arial" panose="020B0604020202020204" pitchFamily="34" charset="0"/>
              </a:rPr>
            </a:br>
            <a:r>
              <a:rPr lang="en-US" sz="2400" dirty="0">
                <a:latin typeface="Arial Black" panose="020B0A04020102020204" pitchFamily="34" charset="0"/>
                <a:cs typeface="Arial" panose="020B0604020202020204" pitchFamily="34" charset="0"/>
              </a:rPr>
              <a:t/>
            </a:r>
            <a:br>
              <a:rPr lang="en-US" sz="2400" dirty="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Coal mining can expose minerals that react with water and produce acid mine drainage and toxic runoff.</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This can introduce pollutants such as </a:t>
            </a:r>
            <a:r>
              <a:rPr lang="en-US" sz="2400" dirty="0" err="1">
                <a:latin typeface="Arial" panose="020B0604020202020204" pitchFamily="34" charset="0"/>
                <a:cs typeface="Arial" panose="020B0604020202020204" pitchFamily="34" charset="0"/>
              </a:rPr>
              <a:t>sulphates</a:t>
            </a:r>
            <a:r>
              <a:rPr lang="en-US" sz="2400" dirty="0">
                <a:latin typeface="Arial" panose="020B0604020202020204" pitchFamily="34" charset="0"/>
                <a:cs typeface="Arial" panose="020B0604020202020204" pitchFamily="34" charset="0"/>
              </a:rPr>
              <a:t>, iron and manganese into water sources</a:t>
            </a:r>
            <a:r>
              <a:rPr lang="en-US" sz="2400" dirty="0" smtClean="0">
                <a:latin typeface="Arial" panose="020B0604020202020204" pitchFamily="34" charset="0"/>
                <a:cs typeface="Arial" panose="020B0604020202020204" pitchFamily="34" charset="0"/>
              </a:rPr>
              <a:t>.</a:t>
            </a:r>
            <a:br>
              <a:rPr lang="en-US" sz="2400" dirty="0" smtClean="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u="sng" dirty="0">
                <a:latin typeface="Arial Black" panose="020B0A04020102020204" pitchFamily="34" charset="0"/>
                <a:cs typeface="Arial" panose="020B0604020202020204" pitchFamily="34" charset="0"/>
              </a:rPr>
              <a:t>The main problems are</a:t>
            </a:r>
            <a:r>
              <a:rPr lang="en-US" sz="2400" u="sng" dirty="0" smtClean="0">
                <a:latin typeface="Arial Black" panose="020B0A04020102020204" pitchFamily="34" charset="0"/>
                <a:cs typeface="Arial" panose="020B0604020202020204" pitchFamily="34" charset="0"/>
              </a:rPr>
              <a:t>:</a:t>
            </a:r>
            <a:r>
              <a:rPr lang="en-US" sz="2400" u="sng" dirty="0">
                <a:latin typeface="Arial Black" panose="020B0A04020102020204" pitchFamily="34" charset="0"/>
                <a:cs typeface="Arial" panose="020B0604020202020204" pitchFamily="34" charset="0"/>
              </a:rPr>
              <a:t/>
            </a:r>
            <a:br>
              <a:rPr lang="en-US" sz="2400" u="sng" dirty="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Water sources can become contaminated.</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Pollution can spread through connected water systems.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Communities and agriculture depend on these water sources.</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Traditional monitoring may not provide an immediate response.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A delayed response can allow contaminated water to continue spreading.</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Our challenge</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How can we detect dangerous changes in water quality early and respond automatically?</a:t>
            </a:r>
          </a:p>
        </p:txBody>
      </p:sp>
    </p:spTree>
    <p:extLst>
      <p:ext uri="{BB962C8B-B14F-4D97-AF65-F5344CB8AC3E}">
        <p14:creationId xmlns:p14="http://schemas.microsoft.com/office/powerpoint/2010/main" val="3302889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88" y="197741"/>
            <a:ext cx="11689497" cy="6466828"/>
          </a:xfrm>
        </p:spPr>
        <p:txBody>
          <a:bodyPr/>
          <a:lstStyle/>
          <a:p>
            <a:r>
              <a:rPr lang="en-US" sz="2400" u="sng" dirty="0">
                <a:latin typeface="Arial Black" panose="020B0A04020102020204" pitchFamily="34" charset="0"/>
              </a:rPr>
              <a:t>TARGET </a:t>
            </a:r>
            <a:r>
              <a:rPr lang="en-US" sz="2400" u="sng" dirty="0" smtClean="0">
                <a:latin typeface="Arial Black" panose="020B0A04020102020204" pitchFamily="34" charset="0"/>
              </a:rPr>
              <a:t>AUDIENCE</a:t>
            </a:r>
            <a:r>
              <a:rPr lang="en-US" sz="2400" dirty="0" smtClean="0">
                <a:latin typeface="Arial Black" panose="020B0A04020102020204" pitchFamily="34" charset="0"/>
              </a:rPr>
              <a:t/>
            </a:r>
            <a:br>
              <a:rPr lang="en-US" sz="2400" dirty="0" smtClean="0">
                <a:latin typeface="Arial Black" panose="020B0A04020102020204" pitchFamily="34" charset="0"/>
              </a:rPr>
            </a:br>
            <a:r>
              <a:rPr lang="en-US" sz="2400" dirty="0"/>
              <a:t/>
            </a:r>
            <a:br>
              <a:rPr lang="en-US" sz="2400" dirty="0"/>
            </a:br>
            <a:r>
              <a:rPr lang="en-US" sz="2400" dirty="0"/>
              <a:t/>
            </a:r>
            <a:br>
              <a:rPr lang="en-US" sz="2400" dirty="0"/>
            </a:br>
            <a:r>
              <a:rPr lang="en-US" sz="2400" u="sng" dirty="0">
                <a:latin typeface="Arial Black" panose="020B0A04020102020204" pitchFamily="34" charset="0"/>
                <a:cs typeface="Arial" panose="020B0604020202020204" pitchFamily="34" charset="0"/>
              </a:rPr>
              <a:t>Who Is Our Solution For</a:t>
            </a:r>
            <a:r>
              <a:rPr lang="en-US" sz="2400" u="sng" dirty="0" smtClean="0">
                <a:latin typeface="Arial Black" panose="020B0A04020102020204" pitchFamily="34" charset="0"/>
                <a:cs typeface="Arial" panose="020B0604020202020204" pitchFamily="34" charset="0"/>
              </a:rPr>
              <a:t>?</a:t>
            </a:r>
            <a:br>
              <a:rPr lang="en-US" sz="2400" u="sng" dirty="0" smtClean="0">
                <a:latin typeface="Arial Black" panose="020B0A040201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b="1" u="sng" dirty="0">
                <a:latin typeface="Arial" panose="020B0604020202020204" pitchFamily="34" charset="0"/>
                <a:cs typeface="Arial" panose="020B0604020202020204" pitchFamily="34" charset="0"/>
              </a:rPr>
              <a:t>Mining companies</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Mining companies may lose revenue due to environmental legal fees and cost associated</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b="1" u="sng" dirty="0" smtClean="0">
                <a:latin typeface="Arial" panose="020B0604020202020204" pitchFamily="34" charset="0"/>
                <a:cs typeface="Arial" panose="020B0604020202020204" pitchFamily="34" charset="0"/>
              </a:rPr>
              <a:t>Famers</a:t>
            </a:r>
            <a:r>
              <a:rPr lang="en-US" sz="2400" dirty="0" smtClean="0">
                <a:latin typeface="Arial" panose="020B0604020202020204" pitchFamily="34" charset="0"/>
                <a:cs typeface="Arial" panose="020B0604020202020204" pitchFamily="34" charset="0"/>
              </a:rPr>
              <a:t/>
            </a:r>
            <a:br>
              <a:rPr lang="en-US" sz="2400" dirty="0" smtClean="0">
                <a:latin typeface="Arial" panose="020B0604020202020204" pitchFamily="34" charset="0"/>
                <a:cs typeface="Arial" panose="020B0604020202020204" pitchFamily="34" charset="0"/>
              </a:rPr>
            </a:br>
            <a:r>
              <a:rPr lang="en-US" sz="2400" dirty="0" smtClean="0">
                <a:latin typeface="Arial" panose="020B0604020202020204" pitchFamily="34" charset="0"/>
                <a:cs typeface="Arial" panose="020B0604020202020204" pitchFamily="34" charset="0"/>
              </a:rPr>
              <a:t>Farmers need reliable water for crops and livestock</a:t>
            </a: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
            </a: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94370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69" y="228600"/>
            <a:ext cx="11843239" cy="6392008"/>
          </a:xfrm>
        </p:spPr>
        <p:txBody>
          <a:bodyPr/>
          <a:lstStyle/>
          <a:p>
            <a:r>
              <a:rPr lang="en-US" sz="3200" u="sng" dirty="0" smtClean="0">
                <a:latin typeface="Arial" panose="020B0604020202020204" pitchFamily="34" charset="0"/>
                <a:cs typeface="Arial" panose="020B0604020202020204" pitchFamily="34" charset="0"/>
              </a:rPr>
              <a:t>THE SOLUTION ARCHITECTURE</a:t>
            </a:r>
            <a:endParaRPr lang="en-US" sz="3200" u="sng" dirty="0">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881573"/>
            <a:ext cx="10348547" cy="5818216"/>
          </a:xfrm>
          <a:prstGeom prst="rect">
            <a:avLst/>
          </a:prstGeom>
        </p:spPr>
      </p:pic>
    </p:spTree>
    <p:extLst>
      <p:ext uri="{BB962C8B-B14F-4D97-AF65-F5344CB8AC3E}">
        <p14:creationId xmlns:p14="http://schemas.microsoft.com/office/powerpoint/2010/main" val="2613409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49" y="303248"/>
            <a:ext cx="11241089" cy="6079967"/>
          </a:xfrm>
        </p:spPr>
        <p:txBody>
          <a:bodyPr/>
          <a:lstStyle/>
          <a:p>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307" y="397808"/>
            <a:ext cx="11274550" cy="5890846"/>
          </a:xfrm>
          <a:prstGeom prst="rect">
            <a:avLst/>
          </a:prstGeom>
        </p:spPr>
      </p:pic>
    </p:spTree>
    <p:extLst>
      <p:ext uri="{BB962C8B-B14F-4D97-AF65-F5344CB8AC3E}">
        <p14:creationId xmlns:p14="http://schemas.microsoft.com/office/powerpoint/2010/main" val="2959606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796" y="92232"/>
            <a:ext cx="11733458" cy="6545959"/>
          </a:xfrm>
        </p:spPr>
        <p:txBody>
          <a:bodyPr/>
          <a:lstStyle/>
          <a:p>
            <a:r>
              <a:rPr lang="en-US" sz="3200" u="sng" dirty="0" smtClean="0">
                <a:latin typeface="Arial Black" panose="020B0A04020102020204" pitchFamily="34" charset="0"/>
              </a:rPr>
              <a:t>What is our system do?</a:t>
            </a:r>
            <a:br>
              <a:rPr lang="en-US" sz="3200" u="sng" dirty="0" smtClean="0">
                <a:latin typeface="Arial Black" panose="020B0A04020102020204" pitchFamily="34" charset="0"/>
              </a:rPr>
            </a:br>
            <a:r>
              <a:rPr lang="en-US" sz="3200" u="sng" dirty="0">
                <a:latin typeface="Arial Black" panose="020B0A04020102020204" pitchFamily="34" charset="0"/>
              </a:rPr>
              <a:t/>
            </a:r>
            <a:br>
              <a:rPr lang="en-US" sz="3200" u="sng" dirty="0">
                <a:latin typeface="Arial Black" panose="020B0A04020102020204" pitchFamily="34" charset="0"/>
              </a:rPr>
            </a:br>
            <a:r>
              <a:rPr lang="en-US" sz="3200" u="sng" dirty="0" smtClean="0">
                <a:latin typeface="Arial Black" panose="020B0A04020102020204" pitchFamily="34" charset="0"/>
              </a:rPr>
              <a:t>-AUTOMIMUS SUBARAINE</a:t>
            </a:r>
            <a:br>
              <a:rPr lang="en-US" sz="3200" u="sng" dirty="0" smtClean="0">
                <a:latin typeface="Arial Black" panose="020B0A04020102020204" pitchFamily="34" charset="0"/>
              </a:rPr>
            </a:br>
            <a:r>
              <a:rPr lang="en-US" sz="3200" u="sng" dirty="0" smtClean="0">
                <a:latin typeface="Arial Black" panose="020B0A04020102020204" pitchFamily="34" charset="0"/>
              </a:rPr>
              <a:t>-HAS MAGNETIC FIELD DETECTOR</a:t>
            </a:r>
            <a:br>
              <a:rPr lang="en-US" sz="3200" u="sng" dirty="0" smtClean="0">
                <a:latin typeface="Arial Black" panose="020B0A04020102020204" pitchFamily="34" charset="0"/>
              </a:rPr>
            </a:br>
            <a:r>
              <a:rPr lang="en-US" sz="3200" u="sng" dirty="0" smtClean="0">
                <a:latin typeface="Arial Black" panose="020B0A04020102020204" pitchFamily="34" charset="0"/>
              </a:rPr>
              <a:t>-GAS DETECTOR</a:t>
            </a:r>
            <a:br>
              <a:rPr lang="en-US" sz="3200" u="sng" dirty="0" smtClean="0">
                <a:latin typeface="Arial Black" panose="020B0A04020102020204" pitchFamily="34" charset="0"/>
              </a:rPr>
            </a:br>
            <a:r>
              <a:rPr lang="en-US" sz="3200" u="sng" dirty="0" smtClean="0">
                <a:latin typeface="Arial Black" panose="020B0A04020102020204" pitchFamily="34" charset="0"/>
              </a:rPr>
              <a:t>-MOVES AUTONIMUSLY</a:t>
            </a:r>
            <a:br>
              <a:rPr lang="en-US" sz="3200" u="sng" dirty="0" smtClean="0">
                <a:latin typeface="Arial Black" panose="020B0A04020102020204" pitchFamily="34" charset="0"/>
              </a:rPr>
            </a:br>
            <a:r>
              <a:rPr lang="en-US" sz="3200" u="sng" dirty="0" smtClean="0">
                <a:latin typeface="Arial Black" panose="020B0A04020102020204" pitchFamily="34" charset="0"/>
              </a:rPr>
              <a:t>-CAN BE MONITORED ON A APP</a:t>
            </a:r>
            <a:br>
              <a:rPr lang="en-US" sz="3200" u="sng" dirty="0" smtClean="0">
                <a:latin typeface="Arial Black" panose="020B0A04020102020204" pitchFamily="34" charset="0"/>
              </a:rPr>
            </a:br>
            <a:r>
              <a:rPr lang="en-US" sz="3200" u="sng" dirty="0">
                <a:latin typeface="Arial Black" panose="020B0A04020102020204" pitchFamily="34" charset="0"/>
              </a:rPr>
              <a:t>-</a:t>
            </a:r>
          </a:p>
        </p:txBody>
      </p:sp>
    </p:spTree>
    <p:extLst>
      <p:ext uri="{BB962C8B-B14F-4D97-AF65-F5344CB8AC3E}">
        <p14:creationId xmlns:p14="http://schemas.microsoft.com/office/powerpoint/2010/main" val="97098137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
  <TotalTime>86</TotalTime>
  <Words>14</Words>
  <Application>Microsoft Office PowerPoint</Application>
  <PresentationFormat>Widescreen</PresentationFormat>
  <Paragraphs>5</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Black</vt:lpstr>
      <vt:lpstr>Century Gothic</vt:lpstr>
      <vt:lpstr>Wingdings 3</vt:lpstr>
      <vt:lpstr>Ion</vt:lpstr>
      <vt:lpstr>PowerPoint Presentation</vt:lpstr>
      <vt:lpstr>Introduction   Mpumalanga is one of South Africa’s major coal-mining regions. Mining activities can produce contaminated and acidic runoff that can enter rivers and groundwater. This pollution can affect water used by communities, farmers, livestock and ecosystems. Our project focuses on detecting changes in water quality early and enabling a rapid automated response before contamination can cause greater harm.</vt:lpstr>
      <vt:lpstr>Problem Statement  Coal mining can expose minerals that react with water and produce acid mine drainage and toxic runoff. This can introduce pollutants such as sulphates, iron and manganese into water sources.  The main problems are: Water sources can become contaminated. Pollution can spread through connected water systems. Communities and agriculture depend on these water sources. Traditional monitoring may not provide an immediate response. A delayed response can allow contaminated water to continue spreading. Our challenge How can we detect dangerous changes in water quality early and respond automatically?</vt:lpstr>
      <vt:lpstr>TARGET AUDIENCE   Who Is Our Solution For?  Mining companies Mining companies may lose revenue due to environmental legal fees and cost associated   Famers Farmers need reliable water for crops and livestock  </vt:lpstr>
      <vt:lpstr>THE SOLUTION ARCHITECTURE</vt:lpstr>
      <vt:lpstr>PowerPoint Presentation</vt:lpstr>
      <vt:lpstr>What is our system do?  -AUTOMIMUS SUBARAINE -HAS MAGNETIC FIELD DETECTOR -GAS DETECTOR -MOVES AUTONIMUSLY -CAN BE MONITORED ON A APP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Luyanda Nxumalo</dc:creator>
  <cp:lastModifiedBy>Luyanda Nxumalo</cp:lastModifiedBy>
  <cp:revision>9</cp:revision>
  <dcterms:created xsi:type="dcterms:W3CDTF">2026-09-17T16:17:10Z</dcterms:created>
  <dcterms:modified xsi:type="dcterms:W3CDTF">2026-09-17T17:43:25Z</dcterms:modified>
</cp:coreProperties>
</file>