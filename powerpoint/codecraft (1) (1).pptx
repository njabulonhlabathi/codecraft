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Lst>
  <p:sldIdLst>
    <p:sldId id="264" r:id="rId2"/>
    <p:sldId id="257" r:id="rId3"/>
    <p:sldId id="258" r:id="rId4"/>
    <p:sldId id="265" r:id="rId5"/>
    <p:sldId id="267" r:id="rId6"/>
    <p:sldId id="266" r:id="rId7"/>
    <p:sldId id="269" r:id="rId8"/>
    <p:sldId id="270" r:id="rId9"/>
    <p:sldId id="260" r:id="rId10"/>
    <p:sldId id="262"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4660"/>
  </p:normalViewPr>
  <p:slideViewPr>
    <p:cSldViewPr snapToGrid="0">
      <p:cViewPr>
        <p:scale>
          <a:sx n="66" d="100"/>
          <a:sy n="66" d="100"/>
        </p:scale>
        <p:origin x="1166" y="50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109577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2255189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2901698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1F80A52-D8A9-411B-A5B5-4C712294273C}"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2370063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1F80A52-D8A9-411B-A5B5-4C712294273C}"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964358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3922619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2920221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4085593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1F80A52-D8A9-411B-A5B5-4C712294273C}"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3934447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1F80A52-D8A9-411B-A5B5-4C712294273C}"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344620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39770130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730848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41630565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1963192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17244176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24786248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1567129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1F80A52-D8A9-411B-A5B5-4C712294273C}" type="datetimeFigureOut">
              <a:rPr lang="en-US" smtClean="0"/>
              <a:t>9/17/2026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CEEE4E2-6F2F-41F0-A80C-0336EAC532ED}" type="slidenum">
              <a:rPr lang="en-US" smtClean="0"/>
              <a:t>‹#›</a:t>
            </a:fld>
            <a:endParaRPr lang="en-US"/>
          </a:p>
        </p:txBody>
      </p:sp>
    </p:spTree>
    <p:extLst>
      <p:ext uri="{BB962C8B-B14F-4D97-AF65-F5344CB8AC3E}">
        <p14:creationId xmlns:p14="http://schemas.microsoft.com/office/powerpoint/2010/main" val="1677880316"/>
      </p:ext>
    </p:extLst>
  </p:cSld>
  <p:clrMap bg1="dk1" tx1="lt1" bg2="dk2" tx2="lt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811" y="171364"/>
            <a:ext cx="11161958" cy="6414074"/>
          </a:xfrm>
        </p:spPr>
        <p:txBody>
          <a:bodyPr/>
          <a:lstStyle/>
          <a:p>
            <a:r>
              <a:rPr lang="en-US" u="sng" dirty="0" err="1" smtClean="0">
                <a:solidFill>
                  <a:schemeClr val="accent3">
                    <a:lumMod val="20000"/>
                    <a:lumOff val="80000"/>
                  </a:schemeClr>
                </a:solidFill>
                <a:latin typeface="Castellar" panose="020A0402060406010301" pitchFamily="18" charset="0"/>
              </a:rPr>
              <a:t>CodeCraft</a:t>
            </a:r>
            <a:r>
              <a:rPr lang="en-US" u="sng" dirty="0" smtClean="0">
                <a:solidFill>
                  <a:schemeClr val="accent3">
                    <a:lumMod val="20000"/>
                    <a:lumOff val="80000"/>
                  </a:schemeClr>
                </a:solidFill>
                <a:latin typeface="Castellar" panose="020A0402060406010301" pitchFamily="18" charset="0"/>
              </a:rPr>
              <a:t/>
            </a:r>
            <a:br>
              <a:rPr lang="en-US" u="sng" dirty="0" smtClean="0">
                <a:solidFill>
                  <a:schemeClr val="accent3">
                    <a:lumMod val="20000"/>
                    <a:lumOff val="80000"/>
                  </a:schemeClr>
                </a:solidFill>
                <a:latin typeface="Castellar" panose="020A0402060406010301" pitchFamily="18" charset="0"/>
              </a:rPr>
            </a:br>
            <a:r>
              <a:rPr lang="en-US" u="sng" dirty="0">
                <a:solidFill>
                  <a:schemeClr val="accent3">
                    <a:lumMod val="20000"/>
                    <a:lumOff val="80000"/>
                  </a:schemeClr>
                </a:solidFill>
                <a:latin typeface="Castellar" panose="020A0402060406010301" pitchFamily="18" charset="0"/>
              </a:rPr>
              <a:t/>
            </a:r>
            <a:br>
              <a:rPr lang="en-US" u="sng" dirty="0">
                <a:solidFill>
                  <a:schemeClr val="accent3">
                    <a:lumMod val="20000"/>
                    <a:lumOff val="80000"/>
                  </a:schemeClr>
                </a:solidFill>
                <a:latin typeface="Castellar" panose="020A0402060406010301" pitchFamily="18" charset="0"/>
              </a:rPr>
            </a:br>
            <a:r>
              <a:rPr lang="en-US" sz="4800" u="sng" dirty="0" smtClean="0">
                <a:solidFill>
                  <a:schemeClr val="accent3">
                    <a:lumMod val="20000"/>
                    <a:lumOff val="80000"/>
                  </a:schemeClr>
                </a:solidFill>
                <a:latin typeface="Castellar" panose="020A0402060406010301" pitchFamily="18" charset="0"/>
              </a:rPr>
              <a:t>ACID MINE DRAINAGE (AMD) &amp; DECENTRALISED WATER TREATMENT</a:t>
            </a:r>
            <a:br>
              <a:rPr lang="en-US" sz="4800" u="sng" dirty="0" smtClean="0">
                <a:solidFill>
                  <a:schemeClr val="accent3">
                    <a:lumMod val="20000"/>
                    <a:lumOff val="80000"/>
                  </a:schemeClr>
                </a:solidFill>
                <a:latin typeface="Castellar" panose="020A0402060406010301" pitchFamily="18" charset="0"/>
              </a:rPr>
            </a:br>
            <a:r>
              <a:rPr lang="en-US" sz="4800" u="sng" dirty="0" smtClean="0">
                <a:solidFill>
                  <a:schemeClr val="accent3">
                    <a:lumMod val="20000"/>
                    <a:lumOff val="80000"/>
                  </a:schemeClr>
                </a:solidFill>
                <a:latin typeface="Castellar" panose="020A0402060406010301" pitchFamily="18" charset="0"/>
              </a:rPr>
              <a:t> </a:t>
            </a:r>
            <a:r>
              <a:rPr lang="en-US" sz="2800" u="sng" dirty="0" smtClean="0">
                <a:solidFill>
                  <a:schemeClr val="accent3">
                    <a:lumMod val="60000"/>
                    <a:lumOff val="40000"/>
                  </a:schemeClr>
                </a:solidFill>
                <a:latin typeface="Bernard MT Condensed" panose="02050806060905020404" pitchFamily="18" charset="0"/>
              </a:rPr>
              <a:t>SMART WATER QUALITY MONITORING AND AUTOMATED RESPONSE SYSTEM</a:t>
            </a:r>
            <a:r>
              <a:rPr lang="en-US" sz="2800" u="sng" dirty="0" smtClean="0">
                <a:solidFill>
                  <a:schemeClr val="accent3">
                    <a:lumMod val="60000"/>
                    <a:lumOff val="40000"/>
                  </a:schemeClr>
                </a:solidFill>
                <a:latin typeface="Castellar" panose="020A0402060406010301" pitchFamily="18" charset="0"/>
              </a:rPr>
              <a:t/>
            </a:r>
            <a:br>
              <a:rPr lang="en-US" sz="2800" u="sng" dirty="0" smtClean="0">
                <a:solidFill>
                  <a:schemeClr val="accent3">
                    <a:lumMod val="60000"/>
                    <a:lumOff val="40000"/>
                  </a:schemeClr>
                </a:solidFill>
                <a:latin typeface="Castellar" panose="020A0402060406010301" pitchFamily="18" charset="0"/>
              </a:rPr>
            </a:br>
            <a:endParaRPr lang="en-US" sz="2800" u="sng" dirty="0">
              <a:solidFill>
                <a:schemeClr val="accent3">
                  <a:lumMod val="60000"/>
                  <a:lumOff val="40000"/>
                </a:schemeClr>
              </a:solidFill>
              <a:latin typeface="Castellar" panose="020A0402060406010301" pitchFamily="18" charset="0"/>
            </a:endParaRPr>
          </a:p>
        </p:txBody>
      </p:sp>
    </p:spTree>
    <p:extLst>
      <p:ext uri="{BB962C8B-B14F-4D97-AF65-F5344CB8AC3E}">
        <p14:creationId xmlns:p14="http://schemas.microsoft.com/office/powerpoint/2010/main" val="18624974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31" y="131885"/>
            <a:ext cx="12045461" cy="6611815"/>
          </a:xfrm>
        </p:spPr>
        <p:txBody>
          <a:bodyPr/>
          <a:lstStyle/>
          <a:p>
            <a:r>
              <a:rPr lang="en-US" sz="4000" u="sng" dirty="0" smtClean="0">
                <a:solidFill>
                  <a:schemeClr val="tx1"/>
                </a:solidFill>
                <a:latin typeface="Arial Black" panose="020B0A04020102020204" pitchFamily="34" charset="0"/>
              </a:rPr>
              <a:t>Introduction</a:t>
            </a:r>
            <a:r>
              <a:rPr lang="en-US" sz="4000" u="sng" dirty="0" smtClean="0">
                <a:solidFill>
                  <a:schemeClr val="tx1"/>
                </a:solidFill>
              </a:rPr>
              <a:t/>
            </a:r>
            <a:br>
              <a:rPr lang="en-US" sz="4000" u="sng" dirty="0" smtClean="0">
                <a:solidFill>
                  <a:schemeClr val="tx1"/>
                </a:solidFill>
              </a:rPr>
            </a:br>
            <a:r>
              <a:rPr lang="en-US" sz="4000" u="sng" dirty="0" smtClean="0">
                <a:solidFill>
                  <a:schemeClr val="tx1"/>
                </a:solidFill>
              </a:rPr>
              <a:t/>
            </a:r>
            <a:br>
              <a:rPr lang="en-US" sz="4000" u="sng" dirty="0" smtClean="0">
                <a:solidFill>
                  <a:schemeClr val="tx1"/>
                </a:solidFill>
              </a:rPr>
            </a:br>
            <a:r>
              <a:rPr lang="en-US" sz="2800" dirty="0">
                <a:solidFill>
                  <a:schemeClr val="tx1"/>
                </a:solidFill>
              </a:rPr>
              <a:t/>
            </a:r>
            <a:br>
              <a:rPr lang="en-US" sz="2800" dirty="0">
                <a:solidFill>
                  <a:schemeClr val="tx1"/>
                </a:solidFill>
              </a:rPr>
            </a:br>
            <a:r>
              <a:rPr lang="en-US" sz="2400" dirty="0">
                <a:solidFill>
                  <a:schemeClr val="tx1"/>
                </a:solidFill>
                <a:latin typeface="Arial" panose="020B0604020202020204" pitchFamily="34" charset="0"/>
                <a:cs typeface="Arial" panose="020B0604020202020204" pitchFamily="34" charset="0"/>
              </a:rPr>
              <a:t>Mpumalanga is one of South Africa’s major coal-mining regions. Mining activities can produce contaminated and acidic runoff that can enter rivers and groundwater.</a:t>
            </a:r>
            <a:br>
              <a:rPr lang="en-US" sz="2400" dirty="0">
                <a:solidFill>
                  <a:schemeClr val="tx1"/>
                </a:solidFill>
                <a:latin typeface="Arial" panose="020B0604020202020204" pitchFamily="34" charset="0"/>
                <a:cs typeface="Arial" panose="020B0604020202020204" pitchFamily="34" charset="0"/>
              </a:rPr>
            </a:br>
            <a:r>
              <a:rPr lang="en-US" sz="2400" dirty="0">
                <a:solidFill>
                  <a:schemeClr val="tx1"/>
                </a:solidFill>
                <a:latin typeface="Arial" panose="020B0604020202020204" pitchFamily="34" charset="0"/>
                <a:cs typeface="Arial" panose="020B0604020202020204" pitchFamily="34" charset="0"/>
              </a:rPr>
              <a:t>This pollution can affect water used by communities, farmers, livestock and ecosystems.</a:t>
            </a:r>
            <a:br>
              <a:rPr lang="en-US" sz="2400" dirty="0">
                <a:solidFill>
                  <a:schemeClr val="tx1"/>
                </a:solidFill>
                <a:latin typeface="Arial" panose="020B0604020202020204" pitchFamily="34" charset="0"/>
                <a:cs typeface="Arial" panose="020B0604020202020204" pitchFamily="34" charset="0"/>
              </a:rPr>
            </a:br>
            <a:r>
              <a:rPr lang="en-US" sz="2400" dirty="0">
                <a:solidFill>
                  <a:schemeClr val="tx1"/>
                </a:solidFill>
                <a:latin typeface="Arial" panose="020B0604020202020204" pitchFamily="34" charset="0"/>
                <a:cs typeface="Arial" panose="020B0604020202020204" pitchFamily="34" charset="0"/>
              </a:rPr>
              <a:t>Our project focuses on detecting changes in water quality early and enabling a rapid automated response before contamination can cause greater harm.</a:t>
            </a:r>
          </a:p>
        </p:txBody>
      </p:sp>
    </p:spTree>
    <p:extLst>
      <p:ext uri="{BB962C8B-B14F-4D97-AF65-F5344CB8AC3E}">
        <p14:creationId xmlns:p14="http://schemas.microsoft.com/office/powerpoint/2010/main" val="6239249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 y="96717"/>
            <a:ext cx="11843239" cy="6594230"/>
          </a:xfrm>
        </p:spPr>
        <p:txBody>
          <a:bodyPr/>
          <a:lstStyle/>
          <a:p>
            <a:r>
              <a:rPr lang="en-US" sz="3200" u="sng" dirty="0">
                <a:latin typeface="Arial Black" panose="020B0A04020102020204" pitchFamily="34" charset="0"/>
                <a:cs typeface="Arial" panose="020B0604020202020204" pitchFamily="34" charset="0"/>
              </a:rPr>
              <a:t>Problem </a:t>
            </a:r>
            <a:r>
              <a:rPr lang="en-US" sz="3200" u="sng" dirty="0" smtClean="0">
                <a:latin typeface="Arial Black" panose="020B0A04020102020204" pitchFamily="34" charset="0"/>
                <a:cs typeface="Arial" panose="020B0604020202020204" pitchFamily="34" charset="0"/>
              </a:rPr>
              <a:t>Statement</a:t>
            </a:r>
            <a:r>
              <a:rPr lang="en-US" sz="2400" u="sng" dirty="0" smtClean="0">
                <a:latin typeface="Arial Black" panose="020B0A04020102020204" pitchFamily="34" charset="0"/>
                <a:cs typeface="Arial" panose="020B0604020202020204" pitchFamily="34" charset="0"/>
              </a:rPr>
              <a:t/>
            </a:r>
            <a:br>
              <a:rPr lang="en-US" sz="2400" u="sng" dirty="0" smtClean="0">
                <a:latin typeface="Arial Black" panose="020B0A04020102020204" pitchFamily="34" charset="0"/>
                <a:cs typeface="Arial" panose="020B0604020202020204" pitchFamily="34" charset="0"/>
              </a:rPr>
            </a:br>
            <a:r>
              <a:rPr lang="en-US" sz="2400" dirty="0">
                <a:latin typeface="Arial Black" panose="020B0A04020102020204" pitchFamily="34" charset="0"/>
                <a:cs typeface="Arial" panose="020B0604020202020204" pitchFamily="34" charset="0"/>
              </a:rPr>
              <a:t/>
            </a:r>
            <a:br>
              <a:rPr lang="en-US" sz="2400" dirty="0">
                <a:latin typeface="Arial Black" panose="020B0A040201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Coal mining can expose minerals that react with water and produce acid mine drainage and toxic runoff.</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This can introduce pollutants such as </a:t>
            </a:r>
            <a:r>
              <a:rPr lang="en-US" sz="2400" dirty="0" err="1">
                <a:latin typeface="Arial" panose="020B0604020202020204" pitchFamily="34" charset="0"/>
                <a:cs typeface="Arial" panose="020B0604020202020204" pitchFamily="34" charset="0"/>
              </a:rPr>
              <a:t>sulphates</a:t>
            </a:r>
            <a:r>
              <a:rPr lang="en-US" sz="2400" dirty="0">
                <a:latin typeface="Arial" panose="020B0604020202020204" pitchFamily="34" charset="0"/>
                <a:cs typeface="Arial" panose="020B0604020202020204" pitchFamily="34" charset="0"/>
              </a:rPr>
              <a:t>, iron and manganese into water sources</a:t>
            </a:r>
            <a:r>
              <a:rPr lang="en-US" sz="2400" dirty="0" smtClean="0">
                <a:latin typeface="Arial" panose="020B0604020202020204" pitchFamily="34" charset="0"/>
                <a:cs typeface="Arial" panose="020B0604020202020204" pitchFamily="34" charset="0"/>
              </a:rPr>
              <a:t>.</a:t>
            </a:r>
            <a:br>
              <a:rPr lang="en-US" sz="2400" dirty="0" smtClean="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u="sng" dirty="0">
                <a:latin typeface="Arial Black" panose="020B0A04020102020204" pitchFamily="34" charset="0"/>
                <a:cs typeface="Arial" panose="020B0604020202020204" pitchFamily="34" charset="0"/>
              </a:rPr>
              <a:t>The main problems are</a:t>
            </a:r>
            <a:r>
              <a:rPr lang="en-US" sz="2400" u="sng" dirty="0" smtClean="0">
                <a:latin typeface="Arial" panose="020B0604020202020204" pitchFamily="34" charset="0"/>
                <a:cs typeface="Arial" panose="020B0604020202020204" pitchFamily="34" charset="0"/>
              </a:rPr>
              <a:t>:</a:t>
            </a:r>
            <a:br>
              <a:rPr lang="en-US" sz="2400" u="sng" dirty="0" smtClean="0">
                <a:latin typeface="Arial" panose="020B0604020202020204" pitchFamily="34" charset="0"/>
                <a:cs typeface="Arial" panose="020B0604020202020204" pitchFamily="34" charset="0"/>
              </a:rPr>
            </a:br>
            <a:r>
              <a:rPr lang="en-US" sz="2400" u="sng" dirty="0">
                <a:latin typeface="Arial" panose="020B0604020202020204" pitchFamily="34" charset="0"/>
                <a:cs typeface="Arial" panose="020B0604020202020204" pitchFamily="34" charset="0"/>
              </a:rPr>
              <a:t/>
            </a:r>
            <a:br>
              <a:rPr lang="en-US" sz="2400" u="sng" dirty="0">
                <a:latin typeface="Arial" panose="020B0604020202020204" pitchFamily="34" charset="0"/>
                <a:cs typeface="Arial" panose="020B0604020202020204" pitchFamily="34" charset="0"/>
              </a:rPr>
            </a:br>
            <a:r>
              <a:rPr lang="en-US" sz="2400" u="sng" dirty="0" smtClean="0">
                <a:latin typeface="Arial" panose="020B0604020202020204" pitchFamily="34" charset="0"/>
                <a:cs typeface="Arial" panose="020B0604020202020204" pitchFamily="34" charset="0"/>
              </a:rPr>
              <a:t>-</a:t>
            </a:r>
            <a:r>
              <a:rPr lang="en-US" sz="2400" dirty="0" smtClean="0">
                <a:latin typeface="Arial" panose="020B0604020202020204" pitchFamily="34" charset="0"/>
                <a:cs typeface="Arial" panose="020B0604020202020204" pitchFamily="34" charset="0"/>
              </a:rPr>
              <a:t>Water </a:t>
            </a:r>
            <a:r>
              <a:rPr lang="en-US" sz="2400" dirty="0">
                <a:latin typeface="Arial" panose="020B0604020202020204" pitchFamily="34" charset="0"/>
                <a:cs typeface="Arial" panose="020B0604020202020204" pitchFamily="34" charset="0"/>
              </a:rPr>
              <a:t>sources can become contaminated</a:t>
            </a:r>
            <a:r>
              <a:rPr lang="en-US" sz="2400" dirty="0" smtClean="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-Traditional </a:t>
            </a:r>
            <a:r>
              <a:rPr lang="en-US" sz="2400" dirty="0">
                <a:latin typeface="Arial" panose="020B0604020202020204" pitchFamily="34" charset="0"/>
                <a:cs typeface="Arial" panose="020B0604020202020204" pitchFamily="34" charset="0"/>
              </a:rPr>
              <a:t>monitoring may not provide an immediate response.</a:t>
            </a:r>
            <a:br>
              <a:rPr lang="en-US" sz="2400" dirty="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
            </a:r>
            <a:br>
              <a:rPr lang="en-US" sz="2400" dirty="0" smtClean="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28894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21" y="192505"/>
            <a:ext cx="11709194" cy="6419310"/>
          </a:xfrm>
        </p:spPr>
        <p:txBody>
          <a:bodyPr/>
          <a:lstStyle/>
          <a:p>
            <a:r>
              <a:rPr lang="en-US" sz="2400" dirty="0" smtClean="0">
                <a:latin typeface="Arial" panose="020B0604020202020204" pitchFamily="34" charset="0"/>
                <a:cs typeface="Arial" panose="020B0604020202020204" pitchFamily="34" charset="0"/>
              </a:rPr>
              <a:t/>
            </a:r>
            <a:br>
              <a:rPr lang="en-US" sz="2400" dirty="0" smtClean="0">
                <a:latin typeface="Arial" panose="020B0604020202020204" pitchFamily="34" charset="0"/>
                <a:cs typeface="Arial" panose="020B0604020202020204" pitchFamily="34" charset="0"/>
              </a:rPr>
            </a:br>
            <a:r>
              <a:rPr lang="en-US" sz="3200" u="sng" dirty="0" smtClean="0">
                <a:latin typeface="Arial" panose="020B0604020202020204" pitchFamily="34" charset="0"/>
                <a:cs typeface="Arial" panose="020B0604020202020204" pitchFamily="34" charset="0"/>
              </a:rPr>
              <a:t>THE IMPACT OF MINING WATER</a:t>
            </a:r>
            <a:r>
              <a:rPr lang="en-US" sz="3200" u="sng" dirty="0">
                <a:latin typeface="Arial" panose="020B0604020202020204" pitchFamily="34" charset="0"/>
                <a:cs typeface="Arial" panose="020B0604020202020204" pitchFamily="34" charset="0"/>
              </a:rPr>
              <a:t/>
            </a:r>
            <a:br>
              <a:rPr lang="en-US" sz="3200" u="sng" dirty="0">
                <a:latin typeface="Arial" panose="020B0604020202020204" pitchFamily="34" charset="0"/>
                <a:cs typeface="Arial" panose="020B0604020202020204" pitchFamily="34" charset="0"/>
              </a:rPr>
            </a:br>
            <a:r>
              <a:rPr lang="en-US" sz="3200" u="sng" dirty="0" smtClean="0">
                <a:latin typeface="Arial" panose="020B0604020202020204" pitchFamily="34" charset="0"/>
                <a:cs typeface="Arial" panose="020B0604020202020204" pitchFamily="34" charset="0"/>
              </a:rPr>
              <a:t/>
            </a:r>
            <a:br>
              <a:rPr lang="en-US" sz="3200" u="sng" dirty="0" smtClean="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dirty="0" err="1">
                <a:latin typeface="Arial" panose="020B0604020202020204" pitchFamily="34" charset="0"/>
                <a:cs typeface="Arial" panose="020B0604020202020204" pitchFamily="34" charset="0"/>
              </a:rPr>
              <a:t>eMalahleni</a:t>
            </a:r>
            <a:r>
              <a:rPr lang="en-US" sz="2400" dirty="0">
                <a:latin typeface="Arial" panose="020B0604020202020204" pitchFamily="34" charset="0"/>
                <a:cs typeface="Arial" panose="020B0604020202020204" pitchFamily="34" charset="0"/>
              </a:rPr>
              <a:t> (Witbank): This heavily mined hub faces relentless structural strain. Recent Statistics South Africa data reveals that </a:t>
            </a:r>
            <a:r>
              <a:rPr lang="en-US" sz="2400" b="1" dirty="0">
                <a:latin typeface="Arial" panose="020B0604020202020204" pitchFamily="34" charset="0"/>
                <a:cs typeface="Arial" panose="020B0604020202020204" pitchFamily="34" charset="0"/>
              </a:rPr>
              <a:t>66,9% </a:t>
            </a:r>
            <a:r>
              <a:rPr lang="en-US" sz="2400" dirty="0">
                <a:latin typeface="Arial" panose="020B0604020202020204" pitchFamily="34" charset="0"/>
                <a:cs typeface="Arial" panose="020B0604020202020204" pitchFamily="34" charset="0"/>
              </a:rPr>
              <a:t>of households in Mpumalanga suffer from chronic water interruptions. In </a:t>
            </a:r>
            <a:r>
              <a:rPr lang="en-US" sz="2400" dirty="0" err="1">
                <a:latin typeface="Arial" panose="020B0604020202020204" pitchFamily="34" charset="0"/>
                <a:cs typeface="Arial" panose="020B0604020202020204" pitchFamily="34" charset="0"/>
              </a:rPr>
              <a:t>eMalahleni</a:t>
            </a:r>
            <a:r>
              <a:rPr lang="en-US" sz="2400" dirty="0">
                <a:latin typeface="Arial" panose="020B0604020202020204" pitchFamily="34" charset="0"/>
                <a:cs typeface="Arial" panose="020B0604020202020204" pitchFamily="34" charset="0"/>
              </a:rPr>
              <a:t>, residents frequently open taps to find dark brown, heavily oxidized water loaded with sediment. The municipal water management system is in a state of collapse, highlighted by a landmark </a:t>
            </a:r>
            <a:r>
              <a:rPr lang="en-US" sz="2400" b="1" dirty="0">
                <a:latin typeface="Arial" panose="020B0604020202020204" pitchFamily="34" charset="0"/>
                <a:cs typeface="Arial" panose="020B0604020202020204" pitchFamily="34" charset="0"/>
              </a:rPr>
              <a:t>R650 million </a:t>
            </a:r>
            <a:r>
              <a:rPr lang="en-US" sz="2400" dirty="0">
                <a:latin typeface="Arial" panose="020B0604020202020204" pitchFamily="34" charset="0"/>
                <a:cs typeface="Arial" panose="020B0604020202020204" pitchFamily="34" charset="0"/>
              </a:rPr>
              <a:t>High Court </a:t>
            </a:r>
            <a:r>
              <a:rPr lang="en-US" sz="2400" dirty="0" smtClean="0">
                <a:latin typeface="Arial" panose="020B0604020202020204" pitchFamily="34" charset="0"/>
                <a:cs typeface="Arial" panose="020B0604020202020204" pitchFamily="34" charset="0"/>
              </a:rPr>
              <a:t>fine</a:t>
            </a: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
            </a:r>
            <a:br>
              <a:rPr lang="en-US" sz="2400" dirty="0" smtClean="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04519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510" y="496678"/>
            <a:ext cx="11179543" cy="5948083"/>
          </a:xfrm>
        </p:spPr>
        <p:txBody>
          <a:bodyPr/>
          <a:lstStyle/>
          <a:p>
            <a:r>
              <a:rPr lang="en-US" sz="3200" u="sng" dirty="0" smtClean="0">
                <a:latin typeface="Arial" panose="020B0604020202020204" pitchFamily="34" charset="0"/>
                <a:cs typeface="Arial" panose="020B0604020202020204" pitchFamily="34" charset="0"/>
              </a:rPr>
              <a:t>SOLUTION</a:t>
            </a:r>
            <a:br>
              <a:rPr lang="en-US" sz="3200" u="sng" dirty="0" smtClean="0">
                <a:latin typeface="Arial" panose="020B0604020202020204" pitchFamily="34" charset="0"/>
                <a:cs typeface="Arial" panose="020B0604020202020204" pitchFamily="34" charset="0"/>
              </a:rPr>
            </a:br>
            <a:r>
              <a:rPr lang="en-US" sz="3200" u="sng" dirty="0" smtClean="0">
                <a:latin typeface="Arial" panose="020B0604020202020204" pitchFamily="34" charset="0"/>
                <a:cs typeface="Arial" panose="020B0604020202020204" pitchFamily="34" charset="0"/>
              </a:rPr>
              <a:t/>
            </a:r>
            <a:br>
              <a:rPr lang="en-US" sz="3200" u="sng" dirty="0" smtClean="0">
                <a:latin typeface="Arial" panose="020B0604020202020204" pitchFamily="34" charset="0"/>
                <a:cs typeface="Arial" panose="020B0604020202020204" pitchFamily="34" charset="0"/>
              </a:rPr>
            </a:br>
            <a:r>
              <a:rPr lang="en-US" sz="3200" u="sng" dirty="0" smtClean="0">
                <a:latin typeface="Arial" panose="020B0604020202020204" pitchFamily="34" charset="0"/>
                <a:cs typeface="Arial" panose="020B0604020202020204" pitchFamily="34" charset="0"/>
              </a:rPr>
              <a:t>M.I.M.I-</a:t>
            </a:r>
            <a:r>
              <a:rPr lang="en-US" sz="3200" u="sng" dirty="0" err="1" smtClean="0">
                <a:latin typeface="Arial" panose="020B0604020202020204" pitchFamily="34" charset="0"/>
                <a:cs typeface="Arial" panose="020B0604020202020204" pitchFamily="34" charset="0"/>
              </a:rPr>
              <a:t>Microcontrolled</a:t>
            </a:r>
            <a:r>
              <a:rPr lang="en-US" sz="3200" u="sng" dirty="0" smtClean="0">
                <a:latin typeface="Arial" panose="020B0604020202020204" pitchFamily="34" charset="0"/>
                <a:cs typeface="Arial" panose="020B0604020202020204" pitchFamily="34" charset="0"/>
              </a:rPr>
              <a:t> </a:t>
            </a:r>
            <a:r>
              <a:rPr lang="en-US" sz="3200" u="sng" dirty="0" err="1" smtClean="0">
                <a:latin typeface="Arial" panose="020B0604020202020204" pitchFamily="34" charset="0"/>
                <a:cs typeface="Arial" panose="020B0604020202020204" pitchFamily="34" charset="0"/>
              </a:rPr>
              <a:t>Intergrated</a:t>
            </a:r>
            <a:r>
              <a:rPr lang="en-US" sz="3200" u="sng" dirty="0" smtClean="0">
                <a:latin typeface="Arial" panose="020B0604020202020204" pitchFamily="34" charset="0"/>
                <a:cs typeface="Arial" panose="020B0604020202020204" pitchFamily="34" charset="0"/>
              </a:rPr>
              <a:t> Monitoring Interface </a:t>
            </a:r>
            <a:br>
              <a:rPr lang="en-US" sz="3200" u="sng" dirty="0" smtClean="0">
                <a:latin typeface="Arial" panose="020B0604020202020204" pitchFamily="34" charset="0"/>
                <a:cs typeface="Arial" panose="020B0604020202020204" pitchFamily="34" charset="0"/>
              </a:rPr>
            </a:br>
            <a:r>
              <a:rPr lang="en-US" sz="3200" u="sng" dirty="0" smtClean="0">
                <a:latin typeface="Arial" panose="020B0604020202020204" pitchFamily="34" charset="0"/>
                <a:cs typeface="Arial" panose="020B0604020202020204" pitchFamily="34" charset="0"/>
              </a:rPr>
              <a:t/>
            </a:r>
            <a:br>
              <a:rPr lang="en-US" sz="3200" u="sng" dirty="0" smtClean="0">
                <a:latin typeface="Arial" panose="020B0604020202020204" pitchFamily="34" charset="0"/>
                <a:cs typeface="Arial" panose="020B0604020202020204" pitchFamily="34" charset="0"/>
              </a:rPr>
            </a:br>
            <a:r>
              <a:rPr lang="en-US" sz="3200" u="sng" dirty="0" smtClean="0">
                <a:latin typeface="Arial" panose="020B0604020202020204" pitchFamily="34" charset="0"/>
                <a:cs typeface="Arial" panose="020B0604020202020204" pitchFamily="34" charset="0"/>
              </a:rPr>
              <a:t/>
            </a:r>
            <a:br>
              <a:rPr lang="en-US" sz="3200" u="sng" dirty="0" smtClean="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Our solution uses a small autonomous submarine that moves around the mine-water discharge area while continuously sensing the water for acidity. When it detects dangerously acidic water, the system triggers a </a:t>
            </a:r>
            <a:r>
              <a:rPr lang="en-US" sz="2400" dirty="0" err="1" smtClean="0">
                <a:latin typeface="Arial" panose="020B0604020202020204" pitchFamily="34" charset="0"/>
                <a:cs typeface="Arial" panose="020B0604020202020204" pitchFamily="34" charset="0"/>
              </a:rPr>
              <a:t>motorised</a:t>
            </a:r>
            <a:r>
              <a:rPr lang="en-US" sz="2400" dirty="0" smtClean="0">
                <a:latin typeface="Arial" panose="020B0604020202020204" pitchFamily="34" charset="0"/>
                <a:cs typeface="Arial" panose="020B0604020202020204" pitchFamily="34" charset="0"/>
              </a:rPr>
              <a:t> shut-off valve, causing the valve to close and stop flow of contaminated water. The 3D digital twin then displays the detected contamination area and the valve response by closing</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12027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287" y="204186"/>
            <a:ext cx="11230478" cy="5814649"/>
          </a:xfrm>
        </p:spPr>
        <p:txBody>
          <a:bodyPr/>
          <a:lstStyle/>
          <a:p>
            <a:r>
              <a:rPr lang="en-US" sz="3200" u="sng" dirty="0" smtClean="0">
                <a:latin typeface="Arial" panose="020B0604020202020204" pitchFamily="34" charset="0"/>
                <a:cs typeface="Arial" panose="020B0604020202020204" pitchFamily="34" charset="0"/>
              </a:rPr>
              <a:t>Target market:B2B/GOVERNMENT/Municipalities</a:t>
            </a:r>
            <a:r>
              <a:rPr lang="en-US" sz="3200" u="sng" dirty="0" smtClean="0">
                <a:latin typeface="Arial" panose="020B0604020202020204" pitchFamily="34" charset="0"/>
                <a:cs typeface="Arial" panose="020B0604020202020204" pitchFamily="34" charset="0"/>
              </a:rPr>
              <a:t/>
            </a:r>
            <a:br>
              <a:rPr lang="en-US" sz="3200" u="sng" dirty="0" smtClean="0">
                <a:latin typeface="Arial" panose="020B0604020202020204" pitchFamily="34" charset="0"/>
                <a:cs typeface="Arial" panose="020B0604020202020204" pitchFamily="34" charset="0"/>
              </a:rPr>
            </a:br>
            <a:r>
              <a:rPr lang="en-US" sz="3200" u="sng" dirty="0">
                <a:latin typeface="Arial" panose="020B0604020202020204" pitchFamily="34" charset="0"/>
                <a:cs typeface="Arial" panose="020B0604020202020204" pitchFamily="34" charset="0"/>
              </a:rPr>
              <a:t/>
            </a:r>
            <a:br>
              <a:rPr lang="en-US" sz="3200" u="sng" dirty="0">
                <a:latin typeface="Arial" panose="020B0604020202020204" pitchFamily="34" charset="0"/>
                <a:cs typeface="Arial" panose="020B0604020202020204" pitchFamily="34" charset="0"/>
              </a:rPr>
            </a:br>
            <a:r>
              <a:rPr lang="en-US" sz="2800" u="sng" dirty="0" smtClean="0">
                <a:latin typeface="Arial" panose="020B0604020202020204" pitchFamily="34" charset="0"/>
                <a:cs typeface="Arial" panose="020B0604020202020204" pitchFamily="34" charset="0"/>
              </a:rPr>
              <a:t>FARMERS</a:t>
            </a:r>
            <a:br>
              <a:rPr lang="en-US" sz="2800" u="sng" dirty="0" smtClean="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-Protect water used for crops and </a:t>
            </a:r>
            <a:r>
              <a:rPr lang="en-US" sz="2400" dirty="0" smtClean="0">
                <a:latin typeface="Arial" panose="020B0604020202020204" pitchFamily="34" charset="0"/>
                <a:cs typeface="Arial" panose="020B0604020202020204" pitchFamily="34" charset="0"/>
              </a:rPr>
              <a:t>livestock </a:t>
            </a:r>
            <a:r>
              <a:rPr lang="en-US" sz="2400" dirty="0" smtClean="0">
                <a:latin typeface="Arial" panose="020B0604020202020204" pitchFamily="34" charset="0"/>
                <a:cs typeface="Arial" panose="020B0604020202020204" pitchFamily="34" charset="0"/>
              </a:rPr>
              <a:t/>
            </a:r>
            <a:br>
              <a:rPr lang="en-US" sz="2400" dirty="0" smtClean="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-Allowing farmers not </a:t>
            </a:r>
            <a:r>
              <a:rPr lang="en-US" sz="2400" dirty="0" err="1" smtClean="0">
                <a:latin typeface="Arial" panose="020B0604020202020204" pitchFamily="34" charset="0"/>
                <a:cs typeface="Arial" panose="020B0604020202020204" pitchFamily="34" charset="0"/>
              </a:rPr>
              <a:t>not</a:t>
            </a:r>
            <a:r>
              <a:rPr lang="en-US" sz="2400" dirty="0" smtClean="0">
                <a:latin typeface="Arial" panose="020B0604020202020204" pitchFamily="34" charset="0"/>
                <a:cs typeface="Arial" panose="020B0604020202020204" pitchFamily="34" charset="0"/>
              </a:rPr>
              <a:t> use contaminated water</a:t>
            </a:r>
            <a:br>
              <a:rPr lang="en-US" sz="2400" dirty="0" smtClean="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
            </a:r>
            <a:br>
              <a:rPr lang="en-US" sz="2400" dirty="0" smtClean="0">
                <a:latin typeface="Arial" panose="020B0604020202020204" pitchFamily="34" charset="0"/>
                <a:cs typeface="Arial" panose="020B0604020202020204" pitchFamily="34" charset="0"/>
              </a:rPr>
            </a:br>
            <a:r>
              <a:rPr lang="en-US" sz="2800" u="sng" dirty="0" smtClean="0">
                <a:latin typeface="Arial" panose="020B0604020202020204" pitchFamily="34" charset="0"/>
                <a:cs typeface="Arial" panose="020B0604020202020204" pitchFamily="34" charset="0"/>
              </a:rPr>
              <a:t>Mining </a:t>
            </a:r>
            <a:r>
              <a:rPr lang="en-US" sz="2800" u="sng" dirty="0" smtClean="0">
                <a:latin typeface="Arial" panose="020B0604020202020204" pitchFamily="34" charset="0"/>
                <a:cs typeface="Arial" panose="020B0604020202020204" pitchFamily="34" charset="0"/>
              </a:rPr>
              <a:t>Companies</a:t>
            </a:r>
            <a:br>
              <a:rPr lang="en-US" sz="2800" u="sng" dirty="0" smtClean="0">
                <a:latin typeface="Arial" panose="020B0604020202020204" pitchFamily="34" charset="0"/>
                <a:cs typeface="Arial" panose="020B0604020202020204" pitchFamily="34" charset="0"/>
              </a:rPr>
            </a:br>
            <a:r>
              <a:rPr lang="en-US" sz="2800" u="sng" dirty="0" smtClean="0">
                <a:latin typeface="Arial" panose="020B0604020202020204" pitchFamily="34" charset="0"/>
                <a:cs typeface="Arial" panose="020B0604020202020204" pitchFamily="34" charset="0"/>
              </a:rPr>
              <a:t>-</a:t>
            </a:r>
            <a:r>
              <a:rPr lang="en-US" sz="2400" dirty="0" smtClean="0">
                <a:latin typeface="Arial" panose="020B0604020202020204" pitchFamily="34" charset="0"/>
                <a:cs typeface="Arial" panose="020B0604020202020204" pitchFamily="34" charset="0"/>
              </a:rPr>
              <a:t>Helps </a:t>
            </a:r>
            <a:r>
              <a:rPr lang="en-US" sz="2400" dirty="0" smtClean="0">
                <a:latin typeface="Arial" panose="020B0604020202020204" pitchFamily="34" charset="0"/>
                <a:cs typeface="Arial" panose="020B0604020202020204" pitchFamily="34" charset="0"/>
              </a:rPr>
              <a:t>detects pollution early and reduce environmental damage and potential legal costs and </a:t>
            </a:r>
            <a:r>
              <a:rPr lang="en-US" sz="2400" dirty="0" smtClean="0">
                <a:latin typeface="Arial" panose="020B0604020202020204" pitchFamily="34" charset="0"/>
                <a:cs typeface="Arial" panose="020B0604020202020204" pitchFamily="34" charset="0"/>
              </a:rPr>
              <a:t>fines</a:t>
            </a:r>
            <a:br>
              <a:rPr lang="en-US" sz="2400" dirty="0" smtClean="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800" u="sng" dirty="0" smtClean="0">
                <a:latin typeface="Arial" panose="020B0604020202020204" pitchFamily="34" charset="0"/>
                <a:cs typeface="Arial" panose="020B0604020202020204" pitchFamily="34" charset="0"/>
              </a:rPr>
              <a:t>Municipalities</a:t>
            </a:r>
            <a:br>
              <a:rPr lang="en-US" sz="2800" u="sng" dirty="0" smtClean="0">
                <a:latin typeface="Arial" panose="020B0604020202020204" pitchFamily="34" charset="0"/>
                <a:cs typeface="Arial" panose="020B0604020202020204" pitchFamily="34" charset="0"/>
              </a:rPr>
            </a:br>
            <a:r>
              <a:rPr lang="en-US" sz="2800" u="sng" dirty="0" smtClean="0">
                <a:latin typeface="Arial" panose="020B0604020202020204" pitchFamily="34" charset="0"/>
                <a:cs typeface="Arial" panose="020B0604020202020204" pitchFamily="34" charset="0"/>
              </a:rPr>
              <a:t>-</a:t>
            </a:r>
            <a:r>
              <a:rPr lang="en-US" sz="2400" dirty="0" smtClean="0">
                <a:latin typeface="Arial" panose="020B0604020202020204" pitchFamily="34" charset="0"/>
                <a:cs typeface="Arial" panose="020B0604020202020204" pitchFamily="34" charset="0"/>
              </a:rPr>
              <a:t>Municipalities </a:t>
            </a:r>
            <a:r>
              <a:rPr lang="en-US" sz="2400" dirty="0" smtClean="0">
                <a:latin typeface="Arial" panose="020B0604020202020204" pitchFamily="34" charset="0"/>
                <a:cs typeface="Arial" panose="020B0604020202020204" pitchFamily="34" charset="0"/>
              </a:rPr>
              <a:t>benefits by detecting water contaminations early, responding quickly and protecting local water systems and </a:t>
            </a:r>
            <a:r>
              <a:rPr lang="en-US" sz="2400" dirty="0" smtClean="0">
                <a:latin typeface="Arial" panose="020B0604020202020204" pitchFamily="34" charset="0"/>
                <a:cs typeface="Arial" panose="020B0604020202020204" pitchFamily="34" charset="0"/>
              </a:rPr>
              <a:t>rivers while also avoiding fines from the high court </a:t>
            </a:r>
            <a:r>
              <a:rPr lang="en-US" sz="2800" u="sng" dirty="0" smtClean="0">
                <a:latin typeface="Arial" panose="020B0604020202020204" pitchFamily="34" charset="0"/>
                <a:cs typeface="Arial" panose="020B0604020202020204" pitchFamily="34" charset="0"/>
              </a:rPr>
              <a:t/>
            </a:r>
            <a:br>
              <a:rPr lang="en-US" sz="2800" u="sng" dirty="0" smtClean="0">
                <a:latin typeface="Arial" panose="020B0604020202020204" pitchFamily="34" charset="0"/>
                <a:cs typeface="Arial" panose="020B0604020202020204" pitchFamily="34" charset="0"/>
              </a:rPr>
            </a:br>
            <a:r>
              <a:rPr lang="en-US" sz="2800" u="sng" dirty="0" smtClean="0">
                <a:latin typeface="Arial" panose="020B0604020202020204" pitchFamily="34" charset="0"/>
                <a:cs typeface="Arial" panose="020B0604020202020204" pitchFamily="34" charset="0"/>
              </a:rPr>
              <a:t/>
            </a:r>
            <a:br>
              <a:rPr lang="en-US" sz="2800" u="sng" dirty="0" smtClean="0">
                <a:latin typeface="Arial" panose="020B0604020202020204" pitchFamily="34" charset="0"/>
                <a:cs typeface="Arial" panose="020B0604020202020204" pitchFamily="34" charset="0"/>
              </a:rPr>
            </a:br>
            <a:r>
              <a:rPr lang="en-US" sz="2800" u="sng" dirty="0">
                <a:latin typeface="Arial" panose="020B0604020202020204" pitchFamily="34" charset="0"/>
                <a:cs typeface="Arial" panose="020B0604020202020204" pitchFamily="34" charset="0"/>
              </a:rPr>
              <a:t/>
            </a:r>
            <a:br>
              <a:rPr lang="en-US" sz="2800" u="sng" dirty="0">
                <a:latin typeface="Arial" panose="020B0604020202020204" pitchFamily="34" charset="0"/>
                <a:cs typeface="Arial" panose="020B0604020202020204" pitchFamily="34" charset="0"/>
              </a:rPr>
            </a:br>
            <a:endParaRPr lang="en-US" sz="2800"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99694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latin typeface="Arial Black" panose="020B0A04020102020204" pitchFamily="34" charset="0"/>
                <a:cs typeface="Arial" panose="020B0604020202020204" pitchFamily="34" charset="0"/>
              </a:rPr>
              <a:t>Production costs:</a:t>
            </a:r>
            <a:br>
              <a:rPr lang="en-US" u="sng" dirty="0" smtClean="0">
                <a:latin typeface="Arial Black" panose="020B0A04020102020204" pitchFamily="34" charset="0"/>
                <a:cs typeface="Arial" panose="020B0604020202020204" pitchFamily="34" charset="0"/>
              </a:rPr>
            </a:br>
            <a:r>
              <a:rPr lang="en-US" u="sng" dirty="0">
                <a:latin typeface="Arial Black" panose="020B0A04020102020204" pitchFamily="34" charset="0"/>
                <a:cs typeface="Arial" panose="020B0604020202020204" pitchFamily="34" charset="0"/>
              </a:rPr>
              <a:t/>
            </a:r>
            <a:br>
              <a:rPr lang="en-US" u="sng" dirty="0">
                <a:latin typeface="Arial Black" panose="020B0A040201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-Parts cost (</a:t>
            </a:r>
            <a:r>
              <a:rPr lang="en-US" dirty="0" err="1" smtClean="0">
                <a:latin typeface="Arial" panose="020B0604020202020204" pitchFamily="34" charset="0"/>
                <a:cs typeface="Arial" panose="020B0604020202020204" pitchFamily="34" charset="0"/>
              </a:rPr>
              <a:t>adruino,sensor,motor</a:t>
            </a:r>
            <a:r>
              <a:rPr lang="en-US" dirty="0" smtClean="0">
                <a:latin typeface="Arial" panose="020B0604020202020204" pitchFamily="34" charset="0"/>
                <a:cs typeface="Arial" panose="020B0604020202020204" pitchFamily="34" charset="0"/>
              </a:rPr>
              <a:t>)-R600-R800</a:t>
            </a:r>
            <a:br>
              <a:rPr lang="en-US" dirty="0" smtClean="0">
                <a:latin typeface="Arial" panose="020B06040202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Industrial enclosure (R300-R500)</a:t>
            </a:r>
            <a:br>
              <a:rPr lang="en-US" dirty="0" smtClean="0">
                <a:latin typeface="Arial" panose="020B06040202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-Assembley-R200</a:t>
            </a:r>
            <a:br>
              <a:rPr lang="en-US" dirty="0" smtClean="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a:r>
            <a:br>
              <a:rPr lang="en-US" dirty="0">
                <a:latin typeface="Arial" panose="020B06040202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estimated total production cost:R1100 –R1500</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51809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anose="020B0604020202020204" pitchFamily="34" charset="0"/>
                <a:cs typeface="Arial" panose="020B0604020202020204" pitchFamily="34" charset="0"/>
              </a:rPr>
              <a:t>Proposed Selling price and profit margin</a:t>
            </a:r>
            <a:br>
              <a:rPr lang="en-US" dirty="0" smtClean="0">
                <a:latin typeface="Arial" panose="020B06040202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-B2B industrial rate-R4500 to R7500</a:t>
            </a:r>
            <a:br>
              <a:rPr lang="en-US" dirty="0" smtClean="0">
                <a:latin typeface="Arial" panose="020B06040202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
            </a:r>
            <a:br>
              <a:rPr lang="en-US" dirty="0" smtClean="0">
                <a:latin typeface="Arial" panose="020B06040202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Gross margin profit between a health 65% to 75%</a:t>
            </a:r>
            <a:br>
              <a:rPr lang="en-US" dirty="0" smtClean="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17279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469" y="228600"/>
            <a:ext cx="11843239" cy="6392008"/>
          </a:xfrm>
        </p:spPr>
        <p:txBody>
          <a:bodyPr/>
          <a:lstStyle/>
          <a:p>
            <a:r>
              <a:rPr lang="en-US" sz="3200" u="sng" dirty="0" smtClean="0">
                <a:latin typeface="Arial" panose="020B0604020202020204" pitchFamily="34" charset="0"/>
                <a:cs typeface="Arial" panose="020B0604020202020204" pitchFamily="34" charset="0"/>
              </a:rPr>
              <a:t>THE SOLUTION </a:t>
            </a:r>
            <a:r>
              <a:rPr lang="en-US" sz="3200" u="sng" dirty="0" smtClean="0">
                <a:latin typeface="Arial" panose="020B0604020202020204" pitchFamily="34" charset="0"/>
                <a:cs typeface="Arial" panose="020B0604020202020204" pitchFamily="34" charset="0"/>
              </a:rPr>
              <a:t>ARCHITECTURE</a:t>
            </a:r>
            <a:br>
              <a:rPr lang="en-US" sz="3200" u="sng" dirty="0" smtClean="0">
                <a:latin typeface="Arial" panose="020B0604020202020204" pitchFamily="34" charset="0"/>
                <a:cs typeface="Arial" panose="020B0604020202020204" pitchFamily="34" charset="0"/>
              </a:rPr>
            </a:br>
            <a:r>
              <a:rPr lang="en-US" sz="3200" u="sng" dirty="0">
                <a:latin typeface="Arial" panose="020B0604020202020204" pitchFamily="34" charset="0"/>
                <a:cs typeface="Arial" panose="020B0604020202020204" pitchFamily="34" charset="0"/>
              </a:rPr>
              <a:t/>
            </a:r>
            <a:br>
              <a:rPr lang="en-US" sz="3200" u="sng" dirty="0">
                <a:latin typeface="Arial" panose="020B0604020202020204" pitchFamily="34" charset="0"/>
                <a:cs typeface="Arial" panose="020B0604020202020204" pitchFamily="34" charset="0"/>
              </a:rPr>
            </a:br>
            <a:r>
              <a:rPr lang="en-US" sz="3200" u="sng" dirty="0" smtClean="0">
                <a:latin typeface="Arial" panose="020B0604020202020204" pitchFamily="34" charset="0"/>
                <a:cs typeface="Arial" panose="020B0604020202020204" pitchFamily="34" charset="0"/>
              </a:rPr>
              <a:t/>
            </a:r>
            <a:br>
              <a:rPr lang="en-US" sz="3200" u="sng" dirty="0" smtClean="0">
                <a:latin typeface="Arial" panose="020B0604020202020204" pitchFamily="34" charset="0"/>
                <a:cs typeface="Arial" panose="020B0604020202020204" pitchFamily="34" charset="0"/>
              </a:rPr>
            </a:br>
            <a:r>
              <a:rPr lang="en-US" sz="3200" u="sng" dirty="0">
                <a:latin typeface="Arial" panose="020B0604020202020204" pitchFamily="34" charset="0"/>
                <a:cs typeface="Arial" panose="020B0604020202020204" pitchFamily="34" charset="0"/>
              </a:rPr>
              <a:t/>
            </a:r>
            <a:br>
              <a:rPr lang="en-US" sz="3200" u="sng" dirty="0">
                <a:latin typeface="Arial" panose="020B0604020202020204" pitchFamily="34" charset="0"/>
                <a:cs typeface="Arial" panose="020B0604020202020204" pitchFamily="34" charset="0"/>
              </a:rPr>
            </a:br>
            <a:r>
              <a:rPr lang="en-US" sz="3200" u="sng" dirty="0" smtClean="0">
                <a:latin typeface="Arial" panose="020B0604020202020204" pitchFamily="34" charset="0"/>
                <a:cs typeface="Arial" panose="020B0604020202020204" pitchFamily="34" charset="0"/>
              </a:rPr>
              <a:t/>
            </a:r>
            <a:br>
              <a:rPr lang="en-US" sz="3200" u="sng" dirty="0" smtClean="0">
                <a:latin typeface="Arial" panose="020B0604020202020204" pitchFamily="34" charset="0"/>
                <a:cs typeface="Arial" panose="020B0604020202020204" pitchFamily="34" charset="0"/>
              </a:rPr>
            </a:br>
            <a:r>
              <a:rPr lang="en-US" sz="3200" u="sng" dirty="0">
                <a:latin typeface="Arial" panose="020B0604020202020204" pitchFamily="34" charset="0"/>
                <a:cs typeface="Arial" panose="020B0604020202020204" pitchFamily="34" charset="0"/>
              </a:rPr>
              <a:t/>
            </a:r>
            <a:br>
              <a:rPr lang="en-US" sz="3200" u="sng" dirty="0">
                <a:latin typeface="Arial" panose="020B0604020202020204" pitchFamily="34" charset="0"/>
                <a:cs typeface="Arial" panose="020B0604020202020204" pitchFamily="34" charset="0"/>
              </a:rPr>
            </a:br>
            <a:r>
              <a:rPr lang="en-US" sz="3200" u="sng" dirty="0" smtClean="0">
                <a:latin typeface="Arial" panose="020B0604020202020204" pitchFamily="34" charset="0"/>
                <a:cs typeface="Arial" panose="020B0604020202020204" pitchFamily="34" charset="0"/>
              </a:rPr>
              <a:t/>
            </a:r>
            <a:br>
              <a:rPr lang="en-US" sz="3200" u="sng" dirty="0" smtClean="0">
                <a:latin typeface="Arial" panose="020B0604020202020204" pitchFamily="34" charset="0"/>
                <a:cs typeface="Arial" panose="020B0604020202020204" pitchFamily="34" charset="0"/>
              </a:rPr>
            </a:br>
            <a:r>
              <a:rPr lang="en-US" sz="3200" u="sng" dirty="0">
                <a:latin typeface="Arial" panose="020B0604020202020204" pitchFamily="34" charset="0"/>
                <a:cs typeface="Arial" panose="020B0604020202020204" pitchFamily="34" charset="0"/>
              </a:rPr>
              <a:t/>
            </a:r>
            <a:br>
              <a:rPr lang="en-US" sz="3200" u="sng" dirty="0">
                <a:latin typeface="Arial" panose="020B0604020202020204" pitchFamily="34" charset="0"/>
                <a:cs typeface="Arial" panose="020B0604020202020204" pitchFamily="34" charset="0"/>
              </a:rPr>
            </a:br>
            <a:endParaRPr lang="en-US" sz="3200" u="sng"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881572"/>
            <a:ext cx="9331960" cy="5246665"/>
          </a:xfrm>
          <a:prstGeom prst="rect">
            <a:avLst/>
          </a:prstGeom>
        </p:spPr>
      </p:pic>
    </p:spTree>
    <p:extLst>
      <p:ext uri="{BB962C8B-B14F-4D97-AF65-F5344CB8AC3E}">
        <p14:creationId xmlns:p14="http://schemas.microsoft.com/office/powerpoint/2010/main" val="26134098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49" y="303248"/>
            <a:ext cx="11241089" cy="6079967"/>
          </a:xfrm>
        </p:spPr>
        <p:txBody>
          <a:bodyPr/>
          <a:lstStyle/>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307" y="397808"/>
            <a:ext cx="11274550" cy="5890846"/>
          </a:xfrm>
          <a:prstGeom prst="rect">
            <a:avLst/>
          </a:prstGeom>
        </p:spPr>
      </p:pic>
    </p:spTree>
    <p:extLst>
      <p:ext uri="{BB962C8B-B14F-4D97-AF65-F5344CB8AC3E}">
        <p14:creationId xmlns:p14="http://schemas.microsoft.com/office/powerpoint/2010/main" val="2959606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780" y="92597"/>
            <a:ext cx="11733458" cy="6545959"/>
          </a:xfrm>
        </p:spPr>
        <p:txBody>
          <a:bodyPr/>
          <a:lstStyle/>
          <a:p>
            <a:r>
              <a:rPr lang="en-US" sz="3200" u="sng" dirty="0" smtClean="0">
                <a:latin typeface="Arial" panose="020B0604020202020204" pitchFamily="34" charset="0"/>
                <a:cs typeface="Arial" panose="020B0604020202020204" pitchFamily="34" charset="0"/>
              </a:rPr>
              <a:t>How our system works</a:t>
            </a:r>
            <a:br>
              <a:rPr lang="en-US" sz="3200" u="sng" dirty="0" smtClean="0">
                <a:latin typeface="Arial" panose="020B0604020202020204" pitchFamily="34" charset="0"/>
                <a:cs typeface="Arial" panose="020B0604020202020204" pitchFamily="34" charset="0"/>
              </a:rPr>
            </a:br>
            <a:r>
              <a:rPr lang="en-US" sz="3200" u="sng" dirty="0">
                <a:latin typeface="Arial" panose="020B0604020202020204" pitchFamily="34" charset="0"/>
                <a:cs typeface="Arial" panose="020B0604020202020204" pitchFamily="34" charset="0"/>
              </a:rPr>
              <a:t/>
            </a:r>
            <a:br>
              <a:rPr lang="en-US" sz="3200" u="sng" dirty="0">
                <a:latin typeface="Arial" panose="020B0604020202020204" pitchFamily="34" charset="0"/>
                <a:cs typeface="Arial" panose="020B0604020202020204" pitchFamily="34" charset="0"/>
              </a:rPr>
            </a:br>
            <a:r>
              <a:rPr lang="en-US" sz="3200" u="sng" dirty="0" smtClean="0">
                <a:latin typeface="Arial" panose="020B0604020202020204" pitchFamily="34" charset="0"/>
                <a:cs typeface="Arial" panose="020B0604020202020204" pitchFamily="34" charset="0"/>
              </a:rPr>
              <a:t>Prototype features</a:t>
            </a:r>
            <a:r>
              <a:rPr lang="en-US" sz="3200" u="sng" dirty="0" smtClean="0">
                <a:latin typeface="Arial" panose="020B0604020202020204" pitchFamily="34" charset="0"/>
                <a:cs typeface="Arial" panose="020B0604020202020204" pitchFamily="34" charset="0"/>
              </a:rPr>
              <a:t/>
            </a:r>
            <a:br>
              <a:rPr lang="en-US" sz="3200" u="sng" dirty="0" smtClean="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a:t>
            </a:r>
            <a:r>
              <a:rPr lang="en-US" sz="2400" dirty="0" smtClean="0">
                <a:latin typeface="Arial" panose="020B0604020202020204" pitchFamily="34" charset="0"/>
                <a:cs typeface="Arial" panose="020B0604020202020204" pitchFamily="34" charset="0"/>
              </a:rPr>
              <a:t>AUTONOMUS Mobility-navigating independently</a:t>
            </a: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-Gas leak detection-</a:t>
            </a:r>
            <a:r>
              <a:rPr lang="en-US" sz="2400" dirty="0" err="1" smtClean="0">
                <a:latin typeface="Arial" panose="020B0604020202020204" pitchFamily="34" charset="0"/>
                <a:cs typeface="Arial" panose="020B0604020202020204" pitchFamily="34" charset="0"/>
              </a:rPr>
              <a:t>continouslyu</a:t>
            </a:r>
            <a:r>
              <a:rPr lang="en-US" sz="2400" dirty="0" smtClean="0">
                <a:latin typeface="Arial" panose="020B0604020202020204" pitchFamily="34" charset="0"/>
                <a:cs typeface="Arial" panose="020B0604020202020204" pitchFamily="34" charset="0"/>
              </a:rPr>
              <a:t> sniffs toxic or </a:t>
            </a:r>
            <a:r>
              <a:rPr lang="en-US" sz="2400" dirty="0" err="1" smtClean="0">
                <a:latin typeface="Arial" panose="020B0604020202020204" pitchFamily="34" charset="0"/>
                <a:cs typeface="Arial" panose="020B0604020202020204" pitchFamily="34" charset="0"/>
              </a:rPr>
              <a:t>flammabke</a:t>
            </a:r>
            <a:r>
              <a:rPr lang="en-US" sz="2400" dirty="0" smtClean="0">
                <a:latin typeface="Arial" panose="020B0604020202020204" pitchFamily="34" charset="0"/>
                <a:cs typeface="Arial" panose="020B0604020202020204" pitchFamily="34" charset="0"/>
              </a:rPr>
              <a:t/>
            </a:r>
            <a:br>
              <a:rPr lang="en-US" sz="2400" dirty="0" smtClean="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a:t>
            </a:r>
            <a:r>
              <a:rPr lang="en-US" sz="2400" dirty="0" smtClean="0">
                <a:latin typeface="Arial" panose="020B0604020202020204" pitchFamily="34" charset="0"/>
                <a:cs typeface="Arial" panose="020B0604020202020204" pitchFamily="34" charset="0"/>
              </a:rPr>
              <a:t>Identifies water Contamination</a:t>
            </a:r>
            <a:br>
              <a:rPr lang="en-US" sz="2400" dirty="0" smtClean="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-Real-Time Location Tracking</a:t>
            </a:r>
            <a:br>
              <a:rPr lang="en-US" sz="2400" dirty="0" smtClean="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-Water pressure and depth detector</a:t>
            </a:r>
            <a:br>
              <a:rPr lang="en-US" sz="2400" dirty="0" smtClean="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-When </a:t>
            </a:r>
            <a:r>
              <a:rPr lang="en-US" sz="2400" dirty="0" err="1" smtClean="0">
                <a:latin typeface="Arial" panose="020B0604020202020204" pitchFamily="34" charset="0"/>
                <a:cs typeface="Arial" panose="020B0604020202020204" pitchFamily="34" charset="0"/>
              </a:rPr>
              <a:t>conytami</a:t>
            </a:r>
            <a:r>
              <a:rPr lang="en-US" sz="2400" dirty="0" smtClean="0">
                <a:latin typeface="Arial" panose="020B0604020202020204" pitchFamily="34" charset="0"/>
                <a:cs typeface="Arial" panose="020B0604020202020204" pitchFamily="34" charset="0"/>
              </a:rPr>
              <a:t/>
            </a:r>
            <a:br>
              <a:rPr lang="en-US" sz="2400" dirty="0" smtClean="0">
                <a:latin typeface="Arial" panose="020B0604020202020204" pitchFamily="34" charset="0"/>
                <a:cs typeface="Arial" panose="020B0604020202020204" pitchFamily="34" charset="0"/>
              </a:rPr>
            </a:br>
            <a:r>
              <a:rPr lang="en-US" sz="2800" b="1" u="sng" dirty="0" smtClean="0">
                <a:latin typeface="Arial" panose="020B0604020202020204" pitchFamily="34" charset="0"/>
                <a:cs typeface="Arial" panose="020B0604020202020204" pitchFamily="34" charset="0"/>
              </a:rPr>
              <a:t>USER INTERFACE</a:t>
            </a:r>
            <a:r>
              <a:rPr lang="en-US" sz="2400" u="sng" dirty="0">
                <a:latin typeface="Arial" panose="020B0604020202020204" pitchFamily="34" charset="0"/>
                <a:cs typeface="Arial" panose="020B0604020202020204" pitchFamily="34" charset="0"/>
              </a:rPr>
              <a:t/>
            </a:r>
            <a:br>
              <a:rPr lang="en-US" sz="2400" u="sng" dirty="0">
                <a:latin typeface="Arial" panose="020B0604020202020204" pitchFamily="34" charset="0"/>
                <a:cs typeface="Arial" panose="020B0604020202020204" pitchFamily="34" charset="0"/>
              </a:rPr>
            </a:br>
            <a:r>
              <a:rPr lang="en-US" sz="2400" u="sng" dirty="0" smtClean="0">
                <a:latin typeface="Arial" panose="020B0604020202020204" pitchFamily="34" charset="0"/>
                <a:cs typeface="Arial" panose="020B0604020202020204" pitchFamily="34" charset="0"/>
              </a:rPr>
              <a:t>-DISPLAY LOCATION OF THE SUBMARINE </a:t>
            </a:r>
            <a:br>
              <a:rPr lang="en-US" sz="2400" u="sng" dirty="0" smtClean="0">
                <a:latin typeface="Arial" panose="020B0604020202020204" pitchFamily="34" charset="0"/>
                <a:cs typeface="Arial" panose="020B0604020202020204" pitchFamily="34" charset="0"/>
              </a:rPr>
            </a:br>
            <a:r>
              <a:rPr lang="en-US" sz="2400" u="sng" dirty="0" smtClean="0">
                <a:latin typeface="Arial" panose="020B0604020202020204" pitchFamily="34" charset="0"/>
                <a:cs typeface="Arial" panose="020B0604020202020204" pitchFamily="34" charset="0"/>
              </a:rPr>
              <a:t>-SHOWS LOCATION OF POTENTIAL LEAKS AND CONTAMINATIONS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098137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783</TotalTime>
  <Words>23</Words>
  <Application>Microsoft Office PowerPoint</Application>
  <PresentationFormat>Widescreen</PresentationFormat>
  <Paragraphs>10</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Arial Black</vt:lpstr>
      <vt:lpstr>Bernard MT Condensed</vt:lpstr>
      <vt:lpstr>Castellar</vt:lpstr>
      <vt:lpstr>Century Gothic</vt:lpstr>
      <vt:lpstr>Wingdings 3</vt:lpstr>
      <vt:lpstr>Ion</vt:lpstr>
      <vt:lpstr>CodeCraft  ACID MINE DRAINAGE (AMD) &amp; DECENTRALISED WATER TREATMENT  SMART WATER QUALITY MONITORING AND AUTOMATED RESPONSE SYSTEM </vt:lpstr>
      <vt:lpstr>Introduction   Mpumalanga is one of South Africa’s major coal-mining regions. Mining activities can produce contaminated and acidic runoff that can enter rivers and groundwater. This pollution can affect water used by communities, farmers, livestock and ecosystems. Our project focuses on detecting changes in water quality early and enabling a rapid automated response before contamination can cause greater harm.</vt:lpstr>
      <vt:lpstr>Problem Statement  Coal mining can expose minerals that react with water and produce acid mine drainage and toxic runoff. This can introduce pollutants such as sulphates, iron and manganese into water sources.  The main problems are:  -Water sources can become contaminated.  -Traditional monitoring may not provide an immediate response.  </vt:lpstr>
      <vt:lpstr> THE IMPACT OF MINING WATER    eMalahleni (Witbank): This heavily mined hub faces relentless structural strain. Recent Statistics South Africa data reveals that 66,9% of households in Mpumalanga suffer from chronic water interruptions. In eMalahleni, residents frequently open taps to find dark brown, heavily oxidized water loaded with sediment. The municipal water management system is in a state of collapse, highlighted by a landmark R650 million High Court fine  </vt:lpstr>
      <vt:lpstr>SOLUTION  M.I.M.I-Microcontrolled Intergrated Monitoring Interface    Our solution uses a small autonomous submarine that moves around the mine-water discharge area while continuously sensing the water for acidity. When it detects dangerously acidic water, the system triggers a motorised shut-off valve, causing the valve to close and stop flow of contaminated water. The 3D digital twin then displays the detected contamination area and the valve response by closing</vt:lpstr>
      <vt:lpstr>Target market:B2B/GOVERNMENT/Municipalities  FARMERS -Protect water used for crops and livestock  -Allowing farmers not not use contaminated water  Mining Companies -Helps detects pollution early and reduce environmental damage and potential legal costs and fines  Municipalities -Municipalities benefits by detecting water contaminations early, responding quickly and protecting local water systems and rivers while also avoiding fines from the high court    </vt:lpstr>
      <vt:lpstr>Production costs:  -Parts cost (adruino,sensor,motor)-R600-R800 Industrial enclosure (R300-R500) -Assembley-R200  estimated total production cost:R1100 –R1500</vt:lpstr>
      <vt:lpstr>Proposed Selling price and profit margin -B2B industrial rate-R4500 to R7500  Gross margin profit between a health 65% to 75% </vt:lpstr>
      <vt:lpstr>THE SOLUTION ARCHITECTURE        </vt:lpstr>
      <vt:lpstr>PowerPoint Presentation</vt:lpstr>
      <vt:lpstr>How our system works  Prototype features -AUTONOMUS Mobility-navigating independently -Gas leak detection-continouslyu sniffs toxic or flammabke -Identifies water Contamination -Real-Time Location Tracking -Water pressure and depth detector -When conytami USER INTERFACE -DISPLAY LOCATION OF THE SUBMARINE  -SHOWS LOCATION OF POTENTIAL LEAKS AND CONTAMINATIONS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Luyanda Nxumalo</dc:creator>
  <cp:lastModifiedBy>Luyanda Nxumalo</cp:lastModifiedBy>
  <cp:revision>35</cp:revision>
  <dcterms:created xsi:type="dcterms:W3CDTF">2026-09-17T16:17:10Z</dcterms:created>
  <dcterms:modified xsi:type="dcterms:W3CDTF">2026-09-18T06:45:59Z</dcterms:modified>
</cp:coreProperties>
</file>