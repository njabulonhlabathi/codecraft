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9" r:id="rId1"/>
  </p:sldMasterIdLst>
  <p:sldIdLst>
    <p:sldId id="264" r:id="rId2"/>
    <p:sldId id="257" r:id="rId3"/>
    <p:sldId id="258" r:id="rId4"/>
    <p:sldId id="265" r:id="rId5"/>
    <p:sldId id="259" r:id="rId6"/>
    <p:sldId id="260"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131" autoAdjust="0"/>
    <p:restoredTop sz="94660"/>
  </p:normalViewPr>
  <p:slideViewPr>
    <p:cSldViewPr snapToGrid="0">
      <p:cViewPr varScale="1">
        <p:scale>
          <a:sx n="86" d="100"/>
          <a:sy n="86" d="100"/>
        </p:scale>
        <p:origin x="9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1F80A52-D8A9-411B-A5B5-4C712294273C}"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109577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01F80A52-D8A9-411B-A5B5-4C712294273C}"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2255189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1F80A52-D8A9-411B-A5B5-4C712294273C}"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2901698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1F80A52-D8A9-411B-A5B5-4C712294273C}"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2370063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1F80A52-D8A9-411B-A5B5-4C712294273C}" type="datetimeFigureOut">
              <a:rPr lang="en-US" smtClean="0"/>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964358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01F80A52-D8A9-411B-A5B5-4C712294273C}" type="datetimeFigureOut">
              <a:rPr lang="en-US" smtClean="0"/>
              <a:t>9/17/2026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3922619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01F80A52-D8A9-411B-A5B5-4C712294273C}" type="datetimeFigureOut">
              <a:rPr lang="en-US" smtClean="0"/>
              <a:t>9/17/2026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2920221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01F80A52-D8A9-411B-A5B5-4C712294273C}" type="datetimeFigureOut">
              <a:rPr lang="en-US" smtClean="0"/>
              <a:t>9/17/2026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40855931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1F80A52-D8A9-411B-A5B5-4C712294273C}"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3934447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1F80A52-D8A9-411B-A5B5-4C712294273C}"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344620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01F80A52-D8A9-411B-A5B5-4C712294273C}"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39770130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01F80A52-D8A9-411B-A5B5-4C712294273C}"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EE4E2-6F2F-41F0-A80C-0336EAC532ED}"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8730848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1F80A52-D8A9-411B-A5B5-4C712294273C}"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41630565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1F80A52-D8A9-411B-A5B5-4C712294273C}" type="datetimeFigureOut">
              <a:rPr lang="en-US" smtClean="0"/>
              <a:t>9/17/2026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1963192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1F80A52-D8A9-411B-A5B5-4C712294273C}" type="datetimeFigureOut">
              <a:rPr lang="en-US" smtClean="0"/>
              <a:t>9/17/2026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17244176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1F80A52-D8A9-411B-A5B5-4C712294273C}"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24786248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1F80A52-D8A9-411B-A5B5-4C712294273C}"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1567129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01F80A52-D8A9-411B-A5B5-4C712294273C}" type="datetimeFigureOut">
              <a:rPr lang="en-US" smtClean="0"/>
              <a:t>9/17/2026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BCEEE4E2-6F2F-41F0-A80C-0336EAC532ED}" type="slidenum">
              <a:rPr lang="en-US" smtClean="0"/>
              <a:t>‹#›</a:t>
            </a:fld>
            <a:endParaRPr lang="en-US"/>
          </a:p>
        </p:txBody>
      </p:sp>
    </p:spTree>
    <p:extLst>
      <p:ext uri="{BB962C8B-B14F-4D97-AF65-F5344CB8AC3E}">
        <p14:creationId xmlns:p14="http://schemas.microsoft.com/office/powerpoint/2010/main" val="1677880316"/>
      </p:ext>
    </p:extLst>
  </p:cSld>
  <p:clrMap bg1="dk1" tx1="lt1" bg2="dk2" tx2="lt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2" r:id="rId13"/>
    <p:sldLayoutId id="2147483793" r:id="rId14"/>
    <p:sldLayoutId id="2147483794" r:id="rId15"/>
    <p:sldLayoutId id="2147483795" r:id="rId16"/>
    <p:sldLayoutId id="2147483796"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1811" y="171364"/>
            <a:ext cx="11161958" cy="6414074"/>
          </a:xfrm>
        </p:spPr>
        <p:txBody>
          <a:bodyPr/>
          <a:lstStyle/>
          <a:p>
            <a:r>
              <a:rPr lang="en-US" u="sng" dirty="0" err="1" smtClean="0">
                <a:solidFill>
                  <a:schemeClr val="accent3">
                    <a:lumMod val="20000"/>
                    <a:lumOff val="80000"/>
                  </a:schemeClr>
                </a:solidFill>
                <a:latin typeface="Castellar" panose="020A0402060406010301" pitchFamily="18" charset="0"/>
              </a:rPr>
              <a:t>CodeCraft</a:t>
            </a:r>
            <a:r>
              <a:rPr lang="en-US" u="sng" dirty="0" smtClean="0">
                <a:solidFill>
                  <a:schemeClr val="accent3">
                    <a:lumMod val="20000"/>
                    <a:lumOff val="80000"/>
                  </a:schemeClr>
                </a:solidFill>
                <a:latin typeface="Castellar" panose="020A0402060406010301" pitchFamily="18" charset="0"/>
              </a:rPr>
              <a:t/>
            </a:r>
            <a:br>
              <a:rPr lang="en-US" u="sng" dirty="0" smtClean="0">
                <a:solidFill>
                  <a:schemeClr val="accent3">
                    <a:lumMod val="20000"/>
                    <a:lumOff val="80000"/>
                  </a:schemeClr>
                </a:solidFill>
                <a:latin typeface="Castellar" panose="020A0402060406010301" pitchFamily="18" charset="0"/>
              </a:rPr>
            </a:br>
            <a:r>
              <a:rPr lang="en-US" u="sng" dirty="0">
                <a:solidFill>
                  <a:schemeClr val="accent3">
                    <a:lumMod val="20000"/>
                    <a:lumOff val="80000"/>
                  </a:schemeClr>
                </a:solidFill>
                <a:latin typeface="Castellar" panose="020A0402060406010301" pitchFamily="18" charset="0"/>
              </a:rPr>
              <a:t/>
            </a:r>
            <a:br>
              <a:rPr lang="en-US" u="sng" dirty="0">
                <a:solidFill>
                  <a:schemeClr val="accent3">
                    <a:lumMod val="20000"/>
                    <a:lumOff val="80000"/>
                  </a:schemeClr>
                </a:solidFill>
                <a:latin typeface="Castellar" panose="020A0402060406010301" pitchFamily="18" charset="0"/>
              </a:rPr>
            </a:br>
            <a:r>
              <a:rPr lang="en-US" sz="4800" u="sng" dirty="0" smtClean="0">
                <a:solidFill>
                  <a:schemeClr val="accent3">
                    <a:lumMod val="20000"/>
                    <a:lumOff val="80000"/>
                  </a:schemeClr>
                </a:solidFill>
                <a:latin typeface="Castellar" panose="020A0402060406010301" pitchFamily="18" charset="0"/>
              </a:rPr>
              <a:t>ACID MINE DRAINAGE (AMD) &amp; DECENTRALISED WATER TREATMENT</a:t>
            </a:r>
            <a:br>
              <a:rPr lang="en-US" sz="4800" u="sng" dirty="0" smtClean="0">
                <a:solidFill>
                  <a:schemeClr val="accent3">
                    <a:lumMod val="20000"/>
                    <a:lumOff val="80000"/>
                  </a:schemeClr>
                </a:solidFill>
                <a:latin typeface="Castellar" panose="020A0402060406010301" pitchFamily="18" charset="0"/>
              </a:rPr>
            </a:br>
            <a:r>
              <a:rPr lang="en-US" sz="4800" u="sng" dirty="0" smtClean="0">
                <a:solidFill>
                  <a:schemeClr val="accent3">
                    <a:lumMod val="20000"/>
                    <a:lumOff val="80000"/>
                  </a:schemeClr>
                </a:solidFill>
                <a:latin typeface="Castellar" panose="020A0402060406010301" pitchFamily="18" charset="0"/>
              </a:rPr>
              <a:t> </a:t>
            </a:r>
            <a:r>
              <a:rPr lang="en-US" sz="2800" u="sng" dirty="0" smtClean="0">
                <a:solidFill>
                  <a:schemeClr val="accent3">
                    <a:lumMod val="60000"/>
                    <a:lumOff val="40000"/>
                  </a:schemeClr>
                </a:solidFill>
                <a:latin typeface="Bernard MT Condensed" panose="02050806060905020404" pitchFamily="18" charset="0"/>
              </a:rPr>
              <a:t>SMART WATER QUALITY MONITORING AND AUTOMATED RESPONSE SYSTEM</a:t>
            </a:r>
            <a:r>
              <a:rPr lang="en-US" sz="2800" u="sng" dirty="0" smtClean="0">
                <a:solidFill>
                  <a:schemeClr val="accent3">
                    <a:lumMod val="60000"/>
                    <a:lumOff val="40000"/>
                  </a:schemeClr>
                </a:solidFill>
                <a:latin typeface="Castellar" panose="020A0402060406010301" pitchFamily="18" charset="0"/>
              </a:rPr>
              <a:t/>
            </a:r>
            <a:br>
              <a:rPr lang="en-US" sz="2800" u="sng" dirty="0" smtClean="0">
                <a:solidFill>
                  <a:schemeClr val="accent3">
                    <a:lumMod val="60000"/>
                    <a:lumOff val="40000"/>
                  </a:schemeClr>
                </a:solidFill>
                <a:latin typeface="Castellar" panose="020A0402060406010301" pitchFamily="18" charset="0"/>
              </a:rPr>
            </a:br>
            <a:endParaRPr lang="en-US" sz="2800" u="sng" dirty="0">
              <a:solidFill>
                <a:schemeClr val="accent3">
                  <a:lumMod val="60000"/>
                  <a:lumOff val="40000"/>
                </a:schemeClr>
              </a:solidFill>
              <a:latin typeface="Castellar" panose="020A0402060406010301" pitchFamily="18" charset="0"/>
            </a:endParaRPr>
          </a:p>
        </p:txBody>
      </p:sp>
    </p:spTree>
    <p:extLst>
      <p:ext uri="{BB962C8B-B14F-4D97-AF65-F5344CB8AC3E}">
        <p14:creationId xmlns:p14="http://schemas.microsoft.com/office/powerpoint/2010/main" val="18624974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131" y="131885"/>
            <a:ext cx="12045461" cy="6611815"/>
          </a:xfrm>
        </p:spPr>
        <p:txBody>
          <a:bodyPr/>
          <a:lstStyle/>
          <a:p>
            <a:r>
              <a:rPr lang="en-US" sz="4000" u="sng" dirty="0" smtClean="0">
                <a:solidFill>
                  <a:schemeClr val="tx1"/>
                </a:solidFill>
                <a:latin typeface="Arial Black" panose="020B0A04020102020204" pitchFamily="34" charset="0"/>
              </a:rPr>
              <a:t>Introduction</a:t>
            </a:r>
            <a:r>
              <a:rPr lang="en-US" sz="4000" u="sng" dirty="0" smtClean="0">
                <a:solidFill>
                  <a:schemeClr val="tx1"/>
                </a:solidFill>
              </a:rPr>
              <a:t/>
            </a:r>
            <a:br>
              <a:rPr lang="en-US" sz="4000" u="sng" dirty="0" smtClean="0">
                <a:solidFill>
                  <a:schemeClr val="tx1"/>
                </a:solidFill>
              </a:rPr>
            </a:br>
            <a:r>
              <a:rPr lang="en-US" sz="4000" u="sng" dirty="0" smtClean="0">
                <a:solidFill>
                  <a:schemeClr val="tx1"/>
                </a:solidFill>
              </a:rPr>
              <a:t/>
            </a:r>
            <a:br>
              <a:rPr lang="en-US" sz="4000" u="sng" dirty="0" smtClean="0">
                <a:solidFill>
                  <a:schemeClr val="tx1"/>
                </a:solidFill>
              </a:rPr>
            </a:br>
            <a:r>
              <a:rPr lang="en-US" sz="2800" dirty="0">
                <a:solidFill>
                  <a:schemeClr val="tx1"/>
                </a:solidFill>
              </a:rPr>
              <a:t/>
            </a:r>
            <a:br>
              <a:rPr lang="en-US" sz="2800" dirty="0">
                <a:solidFill>
                  <a:schemeClr val="tx1"/>
                </a:solidFill>
              </a:rPr>
            </a:br>
            <a:r>
              <a:rPr lang="en-US" sz="2400" dirty="0">
                <a:solidFill>
                  <a:schemeClr val="tx1"/>
                </a:solidFill>
                <a:latin typeface="Arial" panose="020B0604020202020204" pitchFamily="34" charset="0"/>
                <a:cs typeface="Arial" panose="020B0604020202020204" pitchFamily="34" charset="0"/>
              </a:rPr>
              <a:t>Mpumalanga is one of South Africa’s major coal-mining regions. Mining activities can produce contaminated and acidic runoff that can enter rivers and groundwater.</a:t>
            </a:r>
            <a:br>
              <a:rPr lang="en-US" sz="2400" dirty="0">
                <a:solidFill>
                  <a:schemeClr val="tx1"/>
                </a:solidFill>
                <a:latin typeface="Arial" panose="020B0604020202020204" pitchFamily="34" charset="0"/>
                <a:cs typeface="Arial" panose="020B0604020202020204" pitchFamily="34" charset="0"/>
              </a:rPr>
            </a:br>
            <a:r>
              <a:rPr lang="en-US" sz="2400" dirty="0">
                <a:solidFill>
                  <a:schemeClr val="tx1"/>
                </a:solidFill>
                <a:latin typeface="Arial" panose="020B0604020202020204" pitchFamily="34" charset="0"/>
                <a:cs typeface="Arial" panose="020B0604020202020204" pitchFamily="34" charset="0"/>
              </a:rPr>
              <a:t>This pollution can affect water used by communities, farmers, livestock and ecosystems.</a:t>
            </a:r>
            <a:br>
              <a:rPr lang="en-US" sz="2400" dirty="0">
                <a:solidFill>
                  <a:schemeClr val="tx1"/>
                </a:solidFill>
                <a:latin typeface="Arial" panose="020B0604020202020204" pitchFamily="34" charset="0"/>
                <a:cs typeface="Arial" panose="020B0604020202020204" pitchFamily="34" charset="0"/>
              </a:rPr>
            </a:br>
            <a:r>
              <a:rPr lang="en-US" sz="2400" dirty="0">
                <a:solidFill>
                  <a:schemeClr val="tx1"/>
                </a:solidFill>
                <a:latin typeface="Arial" panose="020B0604020202020204" pitchFamily="34" charset="0"/>
                <a:cs typeface="Arial" panose="020B0604020202020204" pitchFamily="34" charset="0"/>
              </a:rPr>
              <a:t>Our project focuses on detecting changes in water quality early and enabling a rapid automated response before contamination can cause greater harm.</a:t>
            </a:r>
          </a:p>
        </p:txBody>
      </p:sp>
    </p:spTree>
    <p:extLst>
      <p:ext uri="{BB962C8B-B14F-4D97-AF65-F5344CB8AC3E}">
        <p14:creationId xmlns:p14="http://schemas.microsoft.com/office/powerpoint/2010/main" val="6239249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 y="96717"/>
            <a:ext cx="11843239" cy="6594230"/>
          </a:xfrm>
        </p:spPr>
        <p:txBody>
          <a:bodyPr/>
          <a:lstStyle/>
          <a:p>
            <a:r>
              <a:rPr lang="en-US" sz="3200" u="sng" dirty="0">
                <a:latin typeface="Arial Black" panose="020B0A04020102020204" pitchFamily="34" charset="0"/>
                <a:cs typeface="Arial" panose="020B0604020202020204" pitchFamily="34" charset="0"/>
              </a:rPr>
              <a:t>Problem </a:t>
            </a:r>
            <a:r>
              <a:rPr lang="en-US" sz="3200" u="sng" dirty="0" smtClean="0">
                <a:latin typeface="Arial Black" panose="020B0A04020102020204" pitchFamily="34" charset="0"/>
                <a:cs typeface="Arial" panose="020B0604020202020204" pitchFamily="34" charset="0"/>
              </a:rPr>
              <a:t>Statement</a:t>
            </a:r>
            <a:r>
              <a:rPr lang="en-US" sz="2400" u="sng" dirty="0" smtClean="0">
                <a:latin typeface="Arial Black" panose="020B0A04020102020204" pitchFamily="34" charset="0"/>
                <a:cs typeface="Arial" panose="020B0604020202020204" pitchFamily="34" charset="0"/>
              </a:rPr>
              <a:t/>
            </a:r>
            <a:br>
              <a:rPr lang="en-US" sz="2400" u="sng" dirty="0" smtClean="0">
                <a:latin typeface="Arial Black" panose="020B0A04020102020204" pitchFamily="34" charset="0"/>
                <a:cs typeface="Arial" panose="020B0604020202020204" pitchFamily="34" charset="0"/>
              </a:rPr>
            </a:br>
            <a:r>
              <a:rPr lang="en-US" sz="2400" dirty="0">
                <a:latin typeface="Arial Black" panose="020B0A04020102020204" pitchFamily="34" charset="0"/>
                <a:cs typeface="Arial" panose="020B0604020202020204" pitchFamily="34" charset="0"/>
              </a:rPr>
              <a:t/>
            </a:r>
            <a:br>
              <a:rPr lang="en-US" sz="2400" dirty="0">
                <a:latin typeface="Arial Black" panose="020B0A040201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Coal mining can expose minerals that react with water and produce acid mine drainage and toxic runoff.</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This can introduce pollutants such as </a:t>
            </a:r>
            <a:r>
              <a:rPr lang="en-US" sz="2400" dirty="0" err="1">
                <a:latin typeface="Arial" panose="020B0604020202020204" pitchFamily="34" charset="0"/>
                <a:cs typeface="Arial" panose="020B0604020202020204" pitchFamily="34" charset="0"/>
              </a:rPr>
              <a:t>sulphates</a:t>
            </a:r>
            <a:r>
              <a:rPr lang="en-US" sz="2400" dirty="0">
                <a:latin typeface="Arial" panose="020B0604020202020204" pitchFamily="34" charset="0"/>
                <a:cs typeface="Arial" panose="020B0604020202020204" pitchFamily="34" charset="0"/>
              </a:rPr>
              <a:t>, iron and manganese into water sources</a:t>
            </a:r>
            <a:r>
              <a:rPr lang="en-US" sz="2400" dirty="0" smtClean="0">
                <a:latin typeface="Arial" panose="020B0604020202020204" pitchFamily="34" charset="0"/>
                <a:cs typeface="Arial" panose="020B0604020202020204" pitchFamily="34" charset="0"/>
              </a:rPr>
              <a:t>.</a:t>
            </a:r>
            <a:br>
              <a:rPr lang="en-US" sz="2400" dirty="0" smtClean="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a:r>
            <a:br>
              <a:rPr lang="en-US" sz="2400" dirty="0">
                <a:latin typeface="Arial" panose="020B0604020202020204" pitchFamily="34" charset="0"/>
                <a:cs typeface="Arial" panose="020B0604020202020204" pitchFamily="34" charset="0"/>
              </a:rPr>
            </a:br>
            <a:r>
              <a:rPr lang="en-US" sz="2400" u="sng" dirty="0">
                <a:latin typeface="Arial Black" panose="020B0A04020102020204" pitchFamily="34" charset="0"/>
                <a:cs typeface="Arial" panose="020B0604020202020204" pitchFamily="34" charset="0"/>
              </a:rPr>
              <a:t>The main problems are</a:t>
            </a:r>
            <a:r>
              <a:rPr lang="en-US" sz="2400" u="sng" dirty="0" smtClean="0">
                <a:latin typeface="Arial" panose="020B0604020202020204" pitchFamily="34" charset="0"/>
                <a:cs typeface="Arial" panose="020B0604020202020204" pitchFamily="34" charset="0"/>
              </a:rPr>
              <a:t>:</a:t>
            </a:r>
            <a:r>
              <a:rPr lang="en-US" sz="2400" u="sng" dirty="0">
                <a:latin typeface="Arial" panose="020B0604020202020204" pitchFamily="34" charset="0"/>
                <a:cs typeface="Arial" panose="020B0604020202020204" pitchFamily="34" charset="0"/>
              </a:rPr>
              <a:t/>
            </a:r>
            <a:br>
              <a:rPr lang="en-US" sz="2400" u="sng" dirty="0">
                <a:latin typeface="Arial" panose="020B0604020202020204" pitchFamily="34" charset="0"/>
                <a:cs typeface="Arial" panose="020B0604020202020204" pitchFamily="34" charset="0"/>
              </a:rPr>
            </a:br>
            <a:r>
              <a:rPr lang="en-US" sz="2400" u="sng" dirty="0" smtClean="0">
                <a:latin typeface="Arial" panose="020B0604020202020204" pitchFamily="34" charset="0"/>
                <a:cs typeface="Arial" panose="020B0604020202020204" pitchFamily="34" charset="0"/>
              </a:rPr>
              <a:t>-</a:t>
            </a:r>
            <a:r>
              <a:rPr lang="en-US" sz="2400" dirty="0" smtClean="0">
                <a:latin typeface="Arial" panose="020B0604020202020204" pitchFamily="34" charset="0"/>
                <a:cs typeface="Arial" panose="020B0604020202020204" pitchFamily="34" charset="0"/>
              </a:rPr>
              <a:t>Water </a:t>
            </a:r>
            <a:r>
              <a:rPr lang="en-US" sz="2400" dirty="0">
                <a:latin typeface="Arial" panose="020B0604020202020204" pitchFamily="34" charset="0"/>
                <a:cs typeface="Arial" panose="020B0604020202020204" pitchFamily="34" charset="0"/>
              </a:rPr>
              <a:t>sources can become contaminated</a:t>
            </a:r>
            <a:r>
              <a:rPr lang="en-US" sz="2400" dirty="0" smtClean="0">
                <a:latin typeface="Arial" panose="020B0604020202020204" pitchFamily="34" charset="0"/>
                <a:cs typeface="Arial" panose="020B0604020202020204" pitchFamily="34" charset="0"/>
              </a:rPr>
              <a:t>.</a:t>
            </a:r>
            <a:r>
              <a:rPr lang="en-US" sz="2400" dirty="0">
                <a:latin typeface="Arial" panose="020B0604020202020204" pitchFamily="34" charset="0"/>
                <a:cs typeface="Arial" panose="020B0604020202020204" pitchFamily="34" charset="0"/>
              </a:rPr>
              <a:t/>
            </a:r>
            <a:br>
              <a:rPr lang="en-US" sz="2400" dirty="0">
                <a:latin typeface="Arial" panose="020B0604020202020204" pitchFamily="34" charset="0"/>
                <a:cs typeface="Arial" panose="020B0604020202020204" pitchFamily="34" charset="0"/>
              </a:rPr>
            </a:br>
            <a:r>
              <a:rPr lang="en-US" sz="2400" dirty="0" smtClean="0">
                <a:latin typeface="Arial" panose="020B0604020202020204" pitchFamily="34" charset="0"/>
                <a:cs typeface="Arial" panose="020B0604020202020204" pitchFamily="34" charset="0"/>
              </a:rPr>
              <a:t>-Communities </a:t>
            </a:r>
            <a:r>
              <a:rPr lang="en-US" sz="2400" dirty="0">
                <a:latin typeface="Arial" panose="020B0604020202020204" pitchFamily="34" charset="0"/>
                <a:cs typeface="Arial" panose="020B0604020202020204" pitchFamily="34" charset="0"/>
              </a:rPr>
              <a:t>and agriculture depend on these water sources.</a:t>
            </a:r>
            <a:br>
              <a:rPr lang="en-US" sz="2400" dirty="0">
                <a:latin typeface="Arial" panose="020B0604020202020204" pitchFamily="34" charset="0"/>
                <a:cs typeface="Arial" panose="020B0604020202020204" pitchFamily="34" charset="0"/>
              </a:rPr>
            </a:br>
            <a:r>
              <a:rPr lang="en-US" sz="2400" dirty="0" smtClean="0">
                <a:latin typeface="Arial" panose="020B0604020202020204" pitchFamily="34" charset="0"/>
                <a:cs typeface="Arial" panose="020B0604020202020204" pitchFamily="34" charset="0"/>
              </a:rPr>
              <a:t>-Traditional </a:t>
            </a:r>
            <a:r>
              <a:rPr lang="en-US" sz="2400" dirty="0">
                <a:latin typeface="Arial" panose="020B0604020202020204" pitchFamily="34" charset="0"/>
                <a:cs typeface="Arial" panose="020B0604020202020204" pitchFamily="34" charset="0"/>
              </a:rPr>
              <a:t>monitoring may not provide an immediate response.</a:t>
            </a:r>
            <a:br>
              <a:rPr lang="en-US" sz="2400" dirty="0">
                <a:latin typeface="Arial" panose="020B0604020202020204" pitchFamily="34" charset="0"/>
                <a:cs typeface="Arial" panose="020B0604020202020204" pitchFamily="34" charset="0"/>
              </a:rPr>
            </a:br>
            <a:r>
              <a:rPr lang="en-US" sz="2400" dirty="0" smtClean="0">
                <a:latin typeface="Arial" panose="020B0604020202020204" pitchFamily="34" charset="0"/>
                <a:cs typeface="Arial" panose="020B0604020202020204" pitchFamily="34" charset="0"/>
              </a:rPr>
              <a:t>-A </a:t>
            </a:r>
            <a:r>
              <a:rPr lang="en-US" sz="2400" dirty="0">
                <a:latin typeface="Arial" panose="020B0604020202020204" pitchFamily="34" charset="0"/>
                <a:cs typeface="Arial" panose="020B0604020202020204" pitchFamily="34" charset="0"/>
              </a:rPr>
              <a:t>delayed response can allow contaminated water to continue spreading</a:t>
            </a:r>
            <a:r>
              <a:rPr lang="en-US" sz="2400" dirty="0" smtClean="0">
                <a:latin typeface="Arial" panose="020B0604020202020204" pitchFamily="34" charset="0"/>
                <a:cs typeface="Arial" panose="020B0604020202020204" pitchFamily="34" charset="0"/>
              </a:rPr>
              <a:t>.</a:t>
            </a:r>
            <a:br>
              <a:rPr lang="en-US" sz="2400" dirty="0" smtClean="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-Mine may have to pay for </a:t>
            </a:r>
            <a:r>
              <a:rPr lang="en-US" sz="2400" dirty="0" err="1">
                <a:latin typeface="Arial" panose="020B0604020202020204" pitchFamily="34" charset="0"/>
                <a:cs typeface="Arial" panose="020B0604020202020204" pitchFamily="34" charset="0"/>
              </a:rPr>
              <a:t>enviromental</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damages,restoration</a:t>
            </a:r>
            <a:r>
              <a:rPr lang="en-US" sz="2400" dirty="0">
                <a:latin typeface="Arial" panose="020B0604020202020204" pitchFamily="34" charset="0"/>
                <a:cs typeface="Arial" panose="020B0604020202020204" pitchFamily="34" charset="0"/>
              </a:rPr>
              <a:t> costs and penalties caused by water </a:t>
            </a:r>
            <a:r>
              <a:rPr lang="en-US" sz="2400" dirty="0" smtClean="0">
                <a:latin typeface="Arial" panose="020B0604020202020204" pitchFamily="34" charset="0"/>
                <a:cs typeface="Arial" panose="020B0604020202020204" pitchFamily="34" charset="0"/>
              </a:rPr>
              <a:t>pollution</a:t>
            </a:r>
            <a:br>
              <a:rPr lang="en-US" sz="2400" dirty="0" smtClean="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a:r>
            <a:br>
              <a:rPr lang="en-US" sz="2400" dirty="0">
                <a:latin typeface="Arial" panose="020B0604020202020204" pitchFamily="34" charset="0"/>
                <a:cs typeface="Arial" panose="020B0604020202020204" pitchFamily="34" charset="0"/>
              </a:rPr>
            </a:br>
            <a:r>
              <a:rPr lang="en-US" sz="2400" u="sng" dirty="0">
                <a:latin typeface="Arial Black" panose="020B0A04020102020204" pitchFamily="34" charset="0"/>
                <a:cs typeface="Arial" panose="020B0604020202020204" pitchFamily="34" charset="0"/>
              </a:rPr>
              <a:t>Our challenge</a:t>
            </a:r>
            <a:br>
              <a:rPr lang="en-US" sz="2400" u="sng" dirty="0">
                <a:latin typeface="Arial Black" panose="020B0A04020102020204" pitchFamily="34" charset="0"/>
                <a:cs typeface="Arial" panose="020B0604020202020204" pitchFamily="34" charset="0"/>
              </a:rPr>
            </a:br>
            <a:r>
              <a:rPr lang="en-US" sz="2400" dirty="0" smtClean="0">
                <a:latin typeface="Arial" panose="020B0604020202020204" pitchFamily="34" charset="0"/>
                <a:cs typeface="Arial" panose="020B0604020202020204" pitchFamily="34" charset="0"/>
              </a:rPr>
              <a:t>-How </a:t>
            </a:r>
            <a:r>
              <a:rPr lang="en-US" sz="2400" dirty="0">
                <a:latin typeface="Arial" panose="020B0604020202020204" pitchFamily="34" charset="0"/>
                <a:cs typeface="Arial" panose="020B0604020202020204" pitchFamily="34" charset="0"/>
              </a:rPr>
              <a:t>can we detect dangerous changes in water quality early and respond automatically</a:t>
            </a:r>
            <a:r>
              <a:rPr lang="en-US" sz="2400" dirty="0" smtClean="0">
                <a:latin typeface="Arial" panose="020B0604020202020204" pitchFamily="34" charset="0"/>
                <a:cs typeface="Arial" panose="020B0604020202020204" pitchFamily="34" charset="0"/>
              </a:rPr>
              <a:t>?</a:t>
            </a:r>
            <a:br>
              <a:rPr lang="en-US" sz="2400" dirty="0" smtClean="0">
                <a:latin typeface="Arial" panose="020B0604020202020204" pitchFamily="34" charset="0"/>
                <a:cs typeface="Arial" panose="020B0604020202020204" pitchFamily="34" charset="0"/>
              </a:rPr>
            </a:b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02889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421" y="192505"/>
            <a:ext cx="11709194" cy="6419310"/>
          </a:xfrm>
        </p:spPr>
        <p:txBody>
          <a:bodyPr/>
          <a:lstStyle/>
          <a:p>
            <a:r>
              <a:rPr lang="en-US" sz="2400" dirty="0" smtClean="0">
                <a:latin typeface="Arial" panose="020B0604020202020204" pitchFamily="34" charset="0"/>
                <a:cs typeface="Arial" panose="020B0604020202020204" pitchFamily="34" charset="0"/>
              </a:rPr>
              <a:t/>
            </a:r>
            <a:br>
              <a:rPr lang="en-US" sz="2400" dirty="0" smtClean="0">
                <a:latin typeface="Arial" panose="020B0604020202020204" pitchFamily="34" charset="0"/>
                <a:cs typeface="Arial" panose="020B0604020202020204" pitchFamily="34" charset="0"/>
              </a:rPr>
            </a:br>
            <a:r>
              <a:rPr lang="en-US" sz="3200" u="sng" dirty="0" smtClean="0">
                <a:latin typeface="Arial" panose="020B0604020202020204" pitchFamily="34" charset="0"/>
                <a:cs typeface="Arial" panose="020B0604020202020204" pitchFamily="34" charset="0"/>
              </a:rPr>
              <a:t>THE IMPACT OF MINING WATER</a:t>
            </a:r>
            <a:r>
              <a:rPr lang="en-US" sz="3200" u="sng" dirty="0">
                <a:latin typeface="Arial" panose="020B0604020202020204" pitchFamily="34" charset="0"/>
                <a:cs typeface="Arial" panose="020B0604020202020204" pitchFamily="34" charset="0"/>
              </a:rPr>
              <a:t/>
            </a:r>
            <a:br>
              <a:rPr lang="en-US" sz="3200" u="sng" dirty="0">
                <a:latin typeface="Arial" panose="020B0604020202020204" pitchFamily="34" charset="0"/>
                <a:cs typeface="Arial" panose="020B0604020202020204" pitchFamily="34" charset="0"/>
              </a:rPr>
            </a:br>
            <a:r>
              <a:rPr lang="en-US" sz="3200" u="sng" dirty="0" smtClean="0">
                <a:latin typeface="Arial" panose="020B0604020202020204" pitchFamily="34" charset="0"/>
                <a:cs typeface="Arial" panose="020B0604020202020204" pitchFamily="34" charset="0"/>
              </a:rPr>
              <a:t/>
            </a:r>
            <a:br>
              <a:rPr lang="en-US" sz="3200" u="sng" dirty="0" smtClean="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a:r>
            <a:br>
              <a:rPr lang="en-US" sz="2400" dirty="0">
                <a:latin typeface="Arial" panose="020B0604020202020204" pitchFamily="34" charset="0"/>
                <a:cs typeface="Arial" panose="020B0604020202020204" pitchFamily="34" charset="0"/>
              </a:rPr>
            </a:br>
            <a:r>
              <a:rPr lang="en-US" sz="2400" dirty="0" err="1">
                <a:latin typeface="Arial" panose="020B0604020202020204" pitchFamily="34" charset="0"/>
                <a:cs typeface="Arial" panose="020B0604020202020204" pitchFamily="34" charset="0"/>
              </a:rPr>
              <a:t>eMalahleni</a:t>
            </a:r>
            <a:r>
              <a:rPr lang="en-US" sz="2400" dirty="0">
                <a:latin typeface="Arial" panose="020B0604020202020204" pitchFamily="34" charset="0"/>
                <a:cs typeface="Arial" panose="020B0604020202020204" pitchFamily="34" charset="0"/>
              </a:rPr>
              <a:t> (Witbank): This heavily mined hub faces relentless structural strain. Recent Statistics South Africa data reveals that 66,9% of households in Mpumalanga suffer from chronic water interruptions. In </a:t>
            </a:r>
            <a:r>
              <a:rPr lang="en-US" sz="2400" dirty="0" err="1">
                <a:latin typeface="Arial" panose="020B0604020202020204" pitchFamily="34" charset="0"/>
                <a:cs typeface="Arial" panose="020B0604020202020204" pitchFamily="34" charset="0"/>
              </a:rPr>
              <a:t>eMalahleni</a:t>
            </a:r>
            <a:r>
              <a:rPr lang="en-US" sz="2400" dirty="0">
                <a:latin typeface="Arial" panose="020B0604020202020204" pitchFamily="34" charset="0"/>
                <a:cs typeface="Arial" panose="020B0604020202020204" pitchFamily="34" charset="0"/>
              </a:rPr>
              <a:t>, residents frequently open taps to find dark brown, heavily oxidized water loaded with sediment. The municipal water management system is in a state of collapse, highlighted by a landmark R650 million High Court fine</a:t>
            </a:r>
          </a:p>
        </p:txBody>
      </p:sp>
    </p:spTree>
    <p:extLst>
      <p:ext uri="{BB962C8B-B14F-4D97-AF65-F5344CB8AC3E}">
        <p14:creationId xmlns:p14="http://schemas.microsoft.com/office/powerpoint/2010/main" val="580451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88" y="197741"/>
            <a:ext cx="11689497" cy="6466828"/>
          </a:xfrm>
        </p:spPr>
        <p:txBody>
          <a:bodyPr/>
          <a:lstStyle/>
          <a:p>
            <a:r>
              <a:rPr lang="en-US" sz="2400" u="sng" dirty="0">
                <a:latin typeface="Arial Black" panose="020B0A04020102020204" pitchFamily="34" charset="0"/>
              </a:rPr>
              <a:t>TARGET </a:t>
            </a:r>
            <a:r>
              <a:rPr lang="en-US" sz="2400" u="sng" dirty="0" smtClean="0">
                <a:latin typeface="Arial Black" panose="020B0A04020102020204" pitchFamily="34" charset="0"/>
              </a:rPr>
              <a:t>AUDIENCE</a:t>
            </a:r>
            <a:r>
              <a:rPr lang="en-US" sz="2400" dirty="0" smtClean="0">
                <a:latin typeface="Arial Black" panose="020B0A04020102020204" pitchFamily="34" charset="0"/>
              </a:rPr>
              <a:t/>
            </a:r>
            <a:br>
              <a:rPr lang="en-US" sz="2400" dirty="0" smtClean="0">
                <a:latin typeface="Arial Black" panose="020B0A04020102020204" pitchFamily="34" charset="0"/>
              </a:rPr>
            </a:br>
            <a:r>
              <a:rPr lang="en-US" sz="2400" dirty="0"/>
              <a:t/>
            </a:r>
            <a:br>
              <a:rPr lang="en-US" sz="2400" dirty="0"/>
            </a:br>
            <a:r>
              <a:rPr lang="en-US" sz="2400" dirty="0"/>
              <a:t/>
            </a:r>
            <a:br>
              <a:rPr lang="en-US" sz="2400" dirty="0"/>
            </a:br>
            <a:r>
              <a:rPr lang="en-US" sz="2400" u="sng" dirty="0">
                <a:latin typeface="Arial Black" panose="020B0A04020102020204" pitchFamily="34" charset="0"/>
                <a:cs typeface="Arial" panose="020B0604020202020204" pitchFamily="34" charset="0"/>
              </a:rPr>
              <a:t>Who Is Our Solution For</a:t>
            </a:r>
            <a:r>
              <a:rPr lang="en-US" sz="2400" u="sng" dirty="0" smtClean="0">
                <a:latin typeface="Arial Black" panose="020B0A04020102020204" pitchFamily="34" charset="0"/>
                <a:cs typeface="Arial" panose="020B0604020202020204" pitchFamily="34" charset="0"/>
              </a:rPr>
              <a:t>?</a:t>
            </a:r>
            <a:br>
              <a:rPr lang="en-US" sz="2400" u="sng" dirty="0" smtClean="0">
                <a:latin typeface="Arial Black" panose="020B0A040201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a:r>
            <a:br>
              <a:rPr lang="en-US" sz="2400" dirty="0">
                <a:latin typeface="Arial" panose="020B0604020202020204" pitchFamily="34" charset="0"/>
                <a:cs typeface="Arial" panose="020B0604020202020204" pitchFamily="34" charset="0"/>
              </a:rPr>
            </a:br>
            <a:r>
              <a:rPr lang="en-US" sz="2400" b="1" u="sng" dirty="0">
                <a:latin typeface="Arial" panose="020B0604020202020204" pitchFamily="34" charset="0"/>
                <a:cs typeface="Arial" panose="020B0604020202020204" pitchFamily="34" charset="0"/>
              </a:rPr>
              <a:t>Mining companies</a:t>
            </a:r>
            <a:r>
              <a:rPr lang="en-US" sz="2400" dirty="0">
                <a:latin typeface="Arial" panose="020B0604020202020204" pitchFamily="34" charset="0"/>
                <a:cs typeface="Arial" panose="020B0604020202020204" pitchFamily="34" charset="0"/>
              </a:rPr>
              <a:t/>
            </a:r>
            <a:br>
              <a:rPr lang="en-US" sz="2400" dirty="0">
                <a:latin typeface="Arial" panose="020B0604020202020204" pitchFamily="34" charset="0"/>
                <a:cs typeface="Arial" panose="020B0604020202020204" pitchFamily="34" charset="0"/>
              </a:rPr>
            </a:br>
            <a:r>
              <a:rPr lang="en-US" sz="2400" dirty="0" smtClean="0">
                <a:latin typeface="Arial" panose="020B0604020202020204" pitchFamily="34" charset="0"/>
                <a:cs typeface="Arial" panose="020B0604020202020204" pitchFamily="34" charset="0"/>
              </a:rPr>
              <a:t>Mining companies that need to manage water pollution and reduce environmental damage, legal costs and potential penalties</a:t>
            </a:r>
            <a:r>
              <a:rPr lang="en-US" sz="2400" dirty="0">
                <a:latin typeface="Arial" panose="020B0604020202020204" pitchFamily="34" charset="0"/>
                <a:cs typeface="Arial" panose="020B0604020202020204" pitchFamily="34" charset="0"/>
              </a:rPr>
              <a:t/>
            </a:r>
            <a:br>
              <a:rPr lang="en-US" sz="2400" dirty="0">
                <a:latin typeface="Arial" panose="020B0604020202020204" pitchFamily="34" charset="0"/>
                <a:cs typeface="Arial" panose="020B0604020202020204" pitchFamily="34" charset="0"/>
              </a:rPr>
            </a:br>
            <a:r>
              <a:rPr lang="en-US" sz="2400" dirty="0" smtClean="0">
                <a:latin typeface="Arial" panose="020B0604020202020204" pitchFamily="34" charset="0"/>
                <a:cs typeface="Arial" panose="020B0604020202020204" pitchFamily="34" charset="0"/>
              </a:rPr>
              <a:t/>
            </a:r>
            <a:br>
              <a:rPr lang="en-US" sz="2400" dirty="0" smtClean="0">
                <a:latin typeface="Arial" panose="020B0604020202020204" pitchFamily="34" charset="0"/>
                <a:cs typeface="Arial" panose="020B0604020202020204" pitchFamily="34" charset="0"/>
              </a:rPr>
            </a:br>
            <a:r>
              <a:rPr lang="en-US" sz="2400" b="1" u="sng" dirty="0" smtClean="0">
                <a:latin typeface="Arial" panose="020B0604020202020204" pitchFamily="34" charset="0"/>
                <a:cs typeface="Arial" panose="020B0604020202020204" pitchFamily="34" charset="0"/>
              </a:rPr>
              <a:t>Famers</a:t>
            </a:r>
            <a:r>
              <a:rPr lang="en-US" sz="2400" dirty="0" smtClean="0">
                <a:latin typeface="Arial" panose="020B0604020202020204" pitchFamily="34" charset="0"/>
                <a:cs typeface="Arial" panose="020B0604020202020204" pitchFamily="34" charset="0"/>
              </a:rPr>
              <a:t/>
            </a:r>
            <a:br>
              <a:rPr lang="en-US" sz="2400" dirty="0" smtClean="0">
                <a:latin typeface="Arial" panose="020B0604020202020204" pitchFamily="34" charset="0"/>
                <a:cs typeface="Arial" panose="020B0604020202020204" pitchFamily="34" charset="0"/>
              </a:rPr>
            </a:br>
            <a:r>
              <a:rPr lang="en-US" sz="2400" dirty="0" smtClean="0">
                <a:latin typeface="Arial" panose="020B0604020202020204" pitchFamily="34" charset="0"/>
                <a:cs typeface="Arial" panose="020B0604020202020204" pitchFamily="34" charset="0"/>
              </a:rPr>
              <a:t>Farmers need reliable water for crops and livestock</a:t>
            </a:r>
            <a:br>
              <a:rPr lang="en-US" sz="2400" dirty="0" smtClean="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a:r>
            <a:br>
              <a:rPr lang="en-US" sz="2400" dirty="0">
                <a:latin typeface="Arial" panose="020B0604020202020204" pitchFamily="34" charset="0"/>
                <a:cs typeface="Arial" panose="020B0604020202020204" pitchFamily="34" charset="0"/>
              </a:rPr>
            </a:b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994370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469" y="228600"/>
            <a:ext cx="11843239" cy="6392008"/>
          </a:xfrm>
        </p:spPr>
        <p:txBody>
          <a:bodyPr/>
          <a:lstStyle/>
          <a:p>
            <a:r>
              <a:rPr lang="en-US" sz="3200" u="sng" dirty="0" smtClean="0">
                <a:latin typeface="Arial" panose="020B0604020202020204" pitchFamily="34" charset="0"/>
                <a:cs typeface="Arial" panose="020B0604020202020204" pitchFamily="34" charset="0"/>
              </a:rPr>
              <a:t>THE SOLUTION ARCHITECTURE</a:t>
            </a:r>
            <a:endParaRPr lang="en-US" sz="3200" u="sng"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881573"/>
            <a:ext cx="10348547" cy="5818216"/>
          </a:xfrm>
          <a:prstGeom prst="rect">
            <a:avLst/>
          </a:prstGeom>
        </p:spPr>
      </p:pic>
    </p:spTree>
    <p:extLst>
      <p:ext uri="{BB962C8B-B14F-4D97-AF65-F5344CB8AC3E}">
        <p14:creationId xmlns:p14="http://schemas.microsoft.com/office/powerpoint/2010/main" val="2613409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49" y="303248"/>
            <a:ext cx="11241089" cy="6079967"/>
          </a:xfrm>
        </p:spPr>
        <p:txBody>
          <a:bodyPr/>
          <a:lstStyle/>
          <a:p>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2307" y="397808"/>
            <a:ext cx="11274550" cy="5890846"/>
          </a:xfrm>
          <a:prstGeom prst="rect">
            <a:avLst/>
          </a:prstGeom>
        </p:spPr>
      </p:pic>
    </p:spTree>
    <p:extLst>
      <p:ext uri="{BB962C8B-B14F-4D97-AF65-F5344CB8AC3E}">
        <p14:creationId xmlns:p14="http://schemas.microsoft.com/office/powerpoint/2010/main" val="295960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631" y="0"/>
            <a:ext cx="11733458" cy="6545959"/>
          </a:xfrm>
        </p:spPr>
        <p:txBody>
          <a:bodyPr/>
          <a:lstStyle/>
          <a:p>
            <a:r>
              <a:rPr lang="en-US" sz="3200" u="sng" dirty="0" smtClean="0">
                <a:latin typeface="Arial Black" panose="020B0A04020102020204" pitchFamily="34" charset="0"/>
              </a:rPr>
              <a:t>What is our system do?</a:t>
            </a:r>
            <a:br>
              <a:rPr lang="en-US" sz="3200" u="sng" dirty="0" smtClean="0">
                <a:latin typeface="Arial Black" panose="020B0A04020102020204" pitchFamily="34" charset="0"/>
              </a:rPr>
            </a:br>
            <a:r>
              <a:rPr lang="en-US" sz="3200" u="sng" dirty="0">
                <a:latin typeface="Arial Black" panose="020B0A04020102020204" pitchFamily="34" charset="0"/>
              </a:rPr>
              <a:t/>
            </a:r>
            <a:br>
              <a:rPr lang="en-US" sz="3200" u="sng" dirty="0">
                <a:latin typeface="Arial Black" panose="020B0A04020102020204" pitchFamily="34" charset="0"/>
              </a:rPr>
            </a:br>
            <a:r>
              <a:rPr lang="en-US" sz="3200" u="sng" dirty="0" smtClean="0">
                <a:latin typeface="Arial Black" panose="020B0A04020102020204" pitchFamily="34" charset="0"/>
              </a:rPr>
              <a:t/>
            </a:r>
            <a:br>
              <a:rPr lang="en-US" sz="3200" u="sng" dirty="0" smtClean="0">
                <a:latin typeface="Arial Black" panose="020B0A04020102020204" pitchFamily="34" charset="0"/>
              </a:rPr>
            </a:br>
            <a:r>
              <a:rPr lang="en-US" sz="2400" dirty="0">
                <a:latin typeface="Arial" panose="020B0604020202020204" pitchFamily="34" charset="0"/>
                <a:cs typeface="Arial" panose="020B0604020202020204" pitchFamily="34" charset="0"/>
              </a:rPr>
              <a:t>-AUTOMIMUS SUBARAINE</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-HAS MAGNETIC FIELD DETECTOR</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-GAS DETECTOR</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-MOVES AUTONIMUSLY</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-CAN BE MONITORED ON A APP</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a:r>
            <a:br>
              <a:rPr lang="en-US" sz="2400" dirty="0">
                <a:latin typeface="Arial" panose="020B0604020202020204" pitchFamily="34" charset="0"/>
                <a:cs typeface="Arial" panose="020B0604020202020204" pitchFamily="34" charset="0"/>
              </a:rPr>
            </a:br>
            <a:r>
              <a:rPr lang="en-US" sz="2400" u="sng" dirty="0">
                <a:latin typeface="Arial" panose="020B0604020202020204" pitchFamily="34" charset="0"/>
                <a:cs typeface="Arial" panose="020B0604020202020204" pitchFamily="34" charset="0"/>
              </a:rPr>
              <a:t/>
            </a:r>
            <a:br>
              <a:rPr lang="en-US" sz="2400" u="sng" dirty="0">
                <a:latin typeface="Arial" panose="020B0604020202020204" pitchFamily="34" charset="0"/>
                <a:cs typeface="Arial" panose="020B0604020202020204" pitchFamily="34" charset="0"/>
              </a:rPr>
            </a:b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098137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TM02836342[[fn=Ion]]</Template>
  <TotalTime>176</TotalTime>
  <Words>15</Words>
  <Application>Microsoft Office PowerPoint</Application>
  <PresentationFormat>Widescreen</PresentationFormat>
  <Paragraphs>7</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Arial Black</vt:lpstr>
      <vt:lpstr>Bernard MT Condensed</vt:lpstr>
      <vt:lpstr>Castellar</vt:lpstr>
      <vt:lpstr>Century Gothic</vt:lpstr>
      <vt:lpstr>Wingdings 3</vt:lpstr>
      <vt:lpstr>Ion</vt:lpstr>
      <vt:lpstr>CodeCraft  ACID MINE DRAINAGE (AMD) &amp; DECENTRALISED WATER TREATMENT  SMART WATER QUALITY MONITORING AND AUTOMATED RESPONSE SYSTEM </vt:lpstr>
      <vt:lpstr>Introduction   Mpumalanga is one of South Africa’s major coal-mining regions. Mining activities can produce contaminated and acidic runoff that can enter rivers and groundwater. This pollution can affect water used by communities, farmers, livestock and ecosystems. Our project focuses on detecting changes in water quality early and enabling a rapid automated response before contamination can cause greater harm.</vt:lpstr>
      <vt:lpstr>Problem Statement  Coal mining can expose minerals that react with water and produce acid mine drainage and toxic runoff. This can introduce pollutants such as sulphates, iron and manganese into water sources.  The main problems are: -Water sources can become contaminated. -Communities and agriculture depend on these water sources. -Traditional monitoring may not provide an immediate response. -A delayed response can allow contaminated water to continue spreading. -Mine may have to pay for enviromental damages,restoration costs and penalties caused by water pollution  Our challenge -How can we detect dangerous changes in water quality early and respond automatically? </vt:lpstr>
      <vt:lpstr> THE IMPACT OF MINING WATER    eMalahleni (Witbank): This heavily mined hub faces relentless structural strain. Recent Statistics South Africa data reveals that 66,9% of households in Mpumalanga suffer from chronic water interruptions. In eMalahleni, residents frequently open taps to find dark brown, heavily oxidized water loaded with sediment. The municipal water management system is in a state of collapse, highlighted by a landmark R650 million High Court fine</vt:lpstr>
      <vt:lpstr>TARGET AUDIENCE   Who Is Our Solution For?  Mining companies Mining companies that need to manage water pollution and reduce environmental damage, legal costs and potential penalties  Famers Farmers need reliable water for crops and livestock    </vt:lpstr>
      <vt:lpstr>THE SOLUTION ARCHITECTURE</vt:lpstr>
      <vt:lpstr>PowerPoint Presentation</vt:lpstr>
      <vt:lpstr>What is our system do?   -AUTOMIMUS SUBARAINE -HAS MAGNETIC FIELD DETECTOR -GAS DETECTOR -MOVES AUTONIMUSLY -CAN BE MONITORED ON A APP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Luyanda Nxumalo</dc:creator>
  <cp:lastModifiedBy>Luyanda Nxumalo</cp:lastModifiedBy>
  <cp:revision>17</cp:revision>
  <dcterms:created xsi:type="dcterms:W3CDTF">2026-09-17T16:17:10Z</dcterms:created>
  <dcterms:modified xsi:type="dcterms:W3CDTF">2026-09-17T19:13:22Z</dcterms:modified>
</cp:coreProperties>
</file>